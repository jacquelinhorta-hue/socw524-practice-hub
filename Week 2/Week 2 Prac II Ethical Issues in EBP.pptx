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8"/>
  </p:notesMasterIdLst>
  <p:handoutMasterIdLst>
    <p:handoutMasterId r:id="rId39"/>
  </p:handoutMasterIdLst>
  <p:sldIdLst>
    <p:sldId id="256" r:id="rId2"/>
    <p:sldId id="257" r:id="rId3"/>
    <p:sldId id="302" r:id="rId4"/>
    <p:sldId id="300" r:id="rId5"/>
    <p:sldId id="310" r:id="rId6"/>
    <p:sldId id="318" r:id="rId7"/>
    <p:sldId id="314" r:id="rId8"/>
    <p:sldId id="312" r:id="rId9"/>
    <p:sldId id="258" r:id="rId10"/>
    <p:sldId id="259" r:id="rId11"/>
    <p:sldId id="268" r:id="rId12"/>
    <p:sldId id="269" r:id="rId13"/>
    <p:sldId id="319" r:id="rId14"/>
    <p:sldId id="320" r:id="rId15"/>
    <p:sldId id="313" r:id="rId16"/>
    <p:sldId id="270" r:id="rId17"/>
    <p:sldId id="285" r:id="rId18"/>
    <p:sldId id="317" r:id="rId19"/>
    <p:sldId id="271" r:id="rId20"/>
    <p:sldId id="287" r:id="rId21"/>
    <p:sldId id="272" r:id="rId22"/>
    <p:sldId id="274" r:id="rId23"/>
    <p:sldId id="275" r:id="rId24"/>
    <p:sldId id="276" r:id="rId25"/>
    <p:sldId id="277" r:id="rId26"/>
    <p:sldId id="278" r:id="rId27"/>
    <p:sldId id="279" r:id="rId28"/>
    <p:sldId id="308" r:id="rId29"/>
    <p:sldId id="292" r:id="rId30"/>
    <p:sldId id="295" r:id="rId31"/>
    <p:sldId id="296" r:id="rId32"/>
    <p:sldId id="316" r:id="rId33"/>
    <p:sldId id="315" r:id="rId34"/>
    <p:sldId id="281" r:id="rId35"/>
    <p:sldId id="289" r:id="rId36"/>
    <p:sldId id="307" r:id="rId3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ADF6ED-4431-45BB-924D-B97CE21E4FA7}"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40BF8F51-D3AF-4658-B89B-7EDBE7D5C0CF}">
      <dgm:prSet phldrT="[Text]"/>
      <dgm:spPr/>
      <dgm:t>
        <a:bodyPr/>
        <a:lstStyle/>
        <a:p>
          <a:r>
            <a:rPr lang="en-US" dirty="0"/>
            <a:t>1. Research Practice Question</a:t>
          </a:r>
        </a:p>
      </dgm:t>
    </dgm:pt>
    <dgm:pt modelId="{8033DF1D-C00F-4519-931C-A9BB267D7EDC}" type="parTrans" cxnId="{DE8CE041-FDE5-4EB2-838D-3AC6B8A88234}">
      <dgm:prSet/>
      <dgm:spPr/>
      <dgm:t>
        <a:bodyPr/>
        <a:lstStyle/>
        <a:p>
          <a:endParaRPr lang="en-US"/>
        </a:p>
      </dgm:t>
    </dgm:pt>
    <dgm:pt modelId="{7ADF410B-45B9-4919-A2C4-A35AAF361E54}" type="sibTrans" cxnId="{DE8CE041-FDE5-4EB2-838D-3AC6B8A88234}">
      <dgm:prSet/>
      <dgm:spPr/>
      <dgm:t>
        <a:bodyPr/>
        <a:lstStyle/>
        <a:p>
          <a:endParaRPr lang="en-US"/>
        </a:p>
      </dgm:t>
    </dgm:pt>
    <dgm:pt modelId="{E164CED8-4197-4D68-B41F-6B67A9E6FF2D}">
      <dgm:prSet phldrT="[Text]"/>
      <dgm:spPr/>
      <dgm:t>
        <a:bodyPr/>
        <a:lstStyle/>
        <a:p>
          <a:r>
            <a:rPr lang="en-US" dirty="0"/>
            <a:t>2. Locate Relevant Research Knowledge </a:t>
          </a:r>
        </a:p>
      </dgm:t>
    </dgm:pt>
    <dgm:pt modelId="{8180E77F-3554-418C-8FA2-E9B8A7190F7D}" type="parTrans" cxnId="{BECCDDD3-0C2F-4BE7-BD26-36E28D4B60B5}">
      <dgm:prSet/>
      <dgm:spPr/>
      <dgm:t>
        <a:bodyPr/>
        <a:lstStyle/>
        <a:p>
          <a:endParaRPr lang="en-US"/>
        </a:p>
      </dgm:t>
    </dgm:pt>
    <dgm:pt modelId="{8646AC07-90A2-4153-8DA7-0F62ED709460}" type="sibTrans" cxnId="{BECCDDD3-0C2F-4BE7-BD26-36E28D4B60B5}">
      <dgm:prSet/>
      <dgm:spPr/>
      <dgm:t>
        <a:bodyPr/>
        <a:lstStyle/>
        <a:p>
          <a:endParaRPr lang="en-US"/>
        </a:p>
      </dgm:t>
    </dgm:pt>
    <dgm:pt modelId="{AC5682C1-2954-4C1C-80B1-17C5C018994D}">
      <dgm:prSet phldrT="[Text]"/>
      <dgm:spPr/>
      <dgm:t>
        <a:bodyPr/>
        <a:lstStyle/>
        <a:p>
          <a:r>
            <a:rPr lang="en-US" dirty="0"/>
            <a:t>3. Critically Appraise the Knowledge </a:t>
          </a:r>
        </a:p>
      </dgm:t>
    </dgm:pt>
    <dgm:pt modelId="{681EB8AC-DEE4-4DA3-9803-AC0492DB2B45}" type="parTrans" cxnId="{B999F157-DFBD-4F0B-A31C-1CCB67921543}">
      <dgm:prSet/>
      <dgm:spPr/>
      <dgm:t>
        <a:bodyPr/>
        <a:lstStyle/>
        <a:p>
          <a:endParaRPr lang="en-US"/>
        </a:p>
      </dgm:t>
    </dgm:pt>
    <dgm:pt modelId="{50D7D3BD-320A-4181-8629-9CD90ADAA9C6}" type="sibTrans" cxnId="{B999F157-DFBD-4F0B-A31C-1CCB67921543}">
      <dgm:prSet/>
      <dgm:spPr/>
      <dgm:t>
        <a:bodyPr/>
        <a:lstStyle/>
        <a:p>
          <a:endParaRPr lang="en-US"/>
        </a:p>
      </dgm:t>
    </dgm:pt>
    <dgm:pt modelId="{48367BE8-3E0E-48D7-8E49-862F58B20F49}">
      <dgm:prSet phldrT="[Text]"/>
      <dgm:spPr/>
      <dgm:t>
        <a:bodyPr/>
        <a:lstStyle/>
        <a:p>
          <a:r>
            <a:rPr lang="en-US" dirty="0"/>
            <a:t>4. Discuss what you find with the client</a:t>
          </a:r>
        </a:p>
      </dgm:t>
    </dgm:pt>
    <dgm:pt modelId="{1B570DBF-6738-4F14-B332-9FE8F4D227CE}" type="parTrans" cxnId="{DFECE737-4461-4C4E-8B77-295852CF5368}">
      <dgm:prSet/>
      <dgm:spPr/>
      <dgm:t>
        <a:bodyPr/>
        <a:lstStyle/>
        <a:p>
          <a:endParaRPr lang="en-US"/>
        </a:p>
      </dgm:t>
    </dgm:pt>
    <dgm:pt modelId="{6177C908-A188-47E7-9D37-9D7EE53BF670}" type="sibTrans" cxnId="{DFECE737-4461-4C4E-8B77-295852CF5368}">
      <dgm:prSet/>
      <dgm:spPr/>
      <dgm:t>
        <a:bodyPr/>
        <a:lstStyle/>
        <a:p>
          <a:endParaRPr lang="en-US"/>
        </a:p>
      </dgm:t>
    </dgm:pt>
    <dgm:pt modelId="{23BC4A65-6A7C-4399-B3E8-D0F89A923606}">
      <dgm:prSet phldrT="[Text]"/>
      <dgm:spPr/>
      <dgm:t>
        <a:bodyPr/>
        <a:lstStyle/>
        <a:p>
          <a:r>
            <a:rPr lang="en-US" dirty="0"/>
            <a:t>5.Develop an Intervention Plan </a:t>
          </a:r>
        </a:p>
      </dgm:t>
    </dgm:pt>
    <dgm:pt modelId="{EB52A717-F5D2-40AF-88D2-732C162C18C1}" type="parTrans" cxnId="{B609C142-BA4E-4405-864C-B6F2978E8904}">
      <dgm:prSet/>
      <dgm:spPr/>
      <dgm:t>
        <a:bodyPr/>
        <a:lstStyle/>
        <a:p>
          <a:endParaRPr lang="en-US"/>
        </a:p>
      </dgm:t>
    </dgm:pt>
    <dgm:pt modelId="{3D5A7400-3AB1-4EEF-B976-D968CAF59A70}" type="sibTrans" cxnId="{B609C142-BA4E-4405-864C-B6F2978E8904}">
      <dgm:prSet/>
      <dgm:spPr/>
      <dgm:t>
        <a:bodyPr/>
        <a:lstStyle/>
        <a:p>
          <a:endParaRPr lang="en-US"/>
        </a:p>
      </dgm:t>
    </dgm:pt>
    <dgm:pt modelId="{015E6983-D621-4332-AA2E-64ECF1EB72A6}">
      <dgm:prSet phldrT="[Text]"/>
      <dgm:spPr/>
      <dgm:t>
        <a:bodyPr/>
        <a:lstStyle/>
        <a:p>
          <a:r>
            <a:rPr lang="en-US" dirty="0"/>
            <a:t>6. Implement and Evaluate.</a:t>
          </a:r>
        </a:p>
      </dgm:t>
    </dgm:pt>
    <dgm:pt modelId="{6B70061F-80C5-4C80-8EA9-EA0E9E44720E}" type="parTrans" cxnId="{DFC5C61A-CF50-4F83-B307-3CDBD9DA20D6}">
      <dgm:prSet/>
      <dgm:spPr/>
      <dgm:t>
        <a:bodyPr/>
        <a:lstStyle/>
        <a:p>
          <a:endParaRPr lang="en-US"/>
        </a:p>
      </dgm:t>
    </dgm:pt>
    <dgm:pt modelId="{5677A942-AED3-44A7-A7D9-26E13BE612FA}" type="sibTrans" cxnId="{DFC5C61A-CF50-4F83-B307-3CDBD9DA20D6}">
      <dgm:prSet/>
      <dgm:spPr/>
      <dgm:t>
        <a:bodyPr/>
        <a:lstStyle/>
        <a:p>
          <a:endParaRPr lang="en-US"/>
        </a:p>
      </dgm:t>
    </dgm:pt>
    <dgm:pt modelId="{DD75AD4A-75B4-4869-9D31-57325AD7B7C3}" type="pres">
      <dgm:prSet presAssocID="{E7ADF6ED-4431-45BB-924D-B97CE21E4FA7}" presName="cycle" presStyleCnt="0">
        <dgm:presLayoutVars>
          <dgm:dir/>
          <dgm:resizeHandles val="exact"/>
        </dgm:presLayoutVars>
      </dgm:prSet>
      <dgm:spPr/>
    </dgm:pt>
    <dgm:pt modelId="{8663D156-EB8F-4CEB-BD75-27CD89312F05}" type="pres">
      <dgm:prSet presAssocID="{40BF8F51-D3AF-4658-B89B-7EDBE7D5C0CF}" presName="node" presStyleLbl="node1" presStyleIdx="0" presStyleCnt="6">
        <dgm:presLayoutVars>
          <dgm:bulletEnabled val="1"/>
        </dgm:presLayoutVars>
      </dgm:prSet>
      <dgm:spPr/>
    </dgm:pt>
    <dgm:pt modelId="{D8716CAA-B5FE-403C-98E8-CAA88D74F369}" type="pres">
      <dgm:prSet presAssocID="{7ADF410B-45B9-4919-A2C4-A35AAF361E54}" presName="sibTrans" presStyleLbl="sibTrans2D1" presStyleIdx="0" presStyleCnt="6"/>
      <dgm:spPr/>
    </dgm:pt>
    <dgm:pt modelId="{8DA4A132-69B2-4814-9E2D-E5D5481226F4}" type="pres">
      <dgm:prSet presAssocID="{7ADF410B-45B9-4919-A2C4-A35AAF361E54}" presName="connectorText" presStyleLbl="sibTrans2D1" presStyleIdx="0" presStyleCnt="6"/>
      <dgm:spPr/>
    </dgm:pt>
    <dgm:pt modelId="{6D973B92-7B95-4A15-A81F-C619B5DE10B2}" type="pres">
      <dgm:prSet presAssocID="{E164CED8-4197-4D68-B41F-6B67A9E6FF2D}" presName="node" presStyleLbl="node1" presStyleIdx="1" presStyleCnt="6">
        <dgm:presLayoutVars>
          <dgm:bulletEnabled val="1"/>
        </dgm:presLayoutVars>
      </dgm:prSet>
      <dgm:spPr/>
    </dgm:pt>
    <dgm:pt modelId="{52BD2496-7882-49AE-A2EF-B9B1C8B6F9E6}" type="pres">
      <dgm:prSet presAssocID="{8646AC07-90A2-4153-8DA7-0F62ED709460}" presName="sibTrans" presStyleLbl="sibTrans2D1" presStyleIdx="1" presStyleCnt="6"/>
      <dgm:spPr/>
    </dgm:pt>
    <dgm:pt modelId="{D00DE3B3-72DF-4066-B2D6-3C83397D3D5D}" type="pres">
      <dgm:prSet presAssocID="{8646AC07-90A2-4153-8DA7-0F62ED709460}" presName="connectorText" presStyleLbl="sibTrans2D1" presStyleIdx="1" presStyleCnt="6"/>
      <dgm:spPr/>
    </dgm:pt>
    <dgm:pt modelId="{5627FF9B-F1BC-42AA-85E2-C92E33C5966B}" type="pres">
      <dgm:prSet presAssocID="{AC5682C1-2954-4C1C-80B1-17C5C018994D}" presName="node" presStyleLbl="node1" presStyleIdx="2" presStyleCnt="6">
        <dgm:presLayoutVars>
          <dgm:bulletEnabled val="1"/>
        </dgm:presLayoutVars>
      </dgm:prSet>
      <dgm:spPr/>
    </dgm:pt>
    <dgm:pt modelId="{BE1C70C2-3872-4B31-A4B8-320F7C5A71F3}" type="pres">
      <dgm:prSet presAssocID="{50D7D3BD-320A-4181-8629-9CD90ADAA9C6}" presName="sibTrans" presStyleLbl="sibTrans2D1" presStyleIdx="2" presStyleCnt="6"/>
      <dgm:spPr/>
    </dgm:pt>
    <dgm:pt modelId="{30D37FBF-7C61-4F75-8037-3AFE4713DE01}" type="pres">
      <dgm:prSet presAssocID="{50D7D3BD-320A-4181-8629-9CD90ADAA9C6}" presName="connectorText" presStyleLbl="sibTrans2D1" presStyleIdx="2" presStyleCnt="6"/>
      <dgm:spPr/>
    </dgm:pt>
    <dgm:pt modelId="{8095C9BE-D6EB-4006-96C2-D4CAE80973B4}" type="pres">
      <dgm:prSet presAssocID="{48367BE8-3E0E-48D7-8E49-862F58B20F49}" presName="node" presStyleLbl="node1" presStyleIdx="3" presStyleCnt="6">
        <dgm:presLayoutVars>
          <dgm:bulletEnabled val="1"/>
        </dgm:presLayoutVars>
      </dgm:prSet>
      <dgm:spPr/>
    </dgm:pt>
    <dgm:pt modelId="{DA48539E-3827-433F-86E1-D79F03B168D7}" type="pres">
      <dgm:prSet presAssocID="{6177C908-A188-47E7-9D37-9D7EE53BF670}" presName="sibTrans" presStyleLbl="sibTrans2D1" presStyleIdx="3" presStyleCnt="6"/>
      <dgm:spPr/>
    </dgm:pt>
    <dgm:pt modelId="{0E80A228-E130-4325-A463-67EB0653280A}" type="pres">
      <dgm:prSet presAssocID="{6177C908-A188-47E7-9D37-9D7EE53BF670}" presName="connectorText" presStyleLbl="sibTrans2D1" presStyleIdx="3" presStyleCnt="6"/>
      <dgm:spPr/>
    </dgm:pt>
    <dgm:pt modelId="{FABE28D4-51AA-4DD7-93A0-077A51312FED}" type="pres">
      <dgm:prSet presAssocID="{23BC4A65-6A7C-4399-B3E8-D0F89A923606}" presName="node" presStyleLbl="node1" presStyleIdx="4" presStyleCnt="6">
        <dgm:presLayoutVars>
          <dgm:bulletEnabled val="1"/>
        </dgm:presLayoutVars>
      </dgm:prSet>
      <dgm:spPr/>
    </dgm:pt>
    <dgm:pt modelId="{405C3241-75E1-4388-BAD0-7371E296543B}" type="pres">
      <dgm:prSet presAssocID="{3D5A7400-3AB1-4EEF-B976-D968CAF59A70}" presName="sibTrans" presStyleLbl="sibTrans2D1" presStyleIdx="4" presStyleCnt="6"/>
      <dgm:spPr/>
    </dgm:pt>
    <dgm:pt modelId="{0BC93502-4E13-4DF2-B197-84861243823A}" type="pres">
      <dgm:prSet presAssocID="{3D5A7400-3AB1-4EEF-B976-D968CAF59A70}" presName="connectorText" presStyleLbl="sibTrans2D1" presStyleIdx="4" presStyleCnt="6"/>
      <dgm:spPr/>
    </dgm:pt>
    <dgm:pt modelId="{48D68932-4C82-444B-AB52-A4D520B93B46}" type="pres">
      <dgm:prSet presAssocID="{015E6983-D621-4332-AA2E-64ECF1EB72A6}" presName="node" presStyleLbl="node1" presStyleIdx="5" presStyleCnt="6">
        <dgm:presLayoutVars>
          <dgm:bulletEnabled val="1"/>
        </dgm:presLayoutVars>
      </dgm:prSet>
      <dgm:spPr/>
    </dgm:pt>
    <dgm:pt modelId="{CC14758F-FF60-4C0F-9D99-2D6B7276E0DB}" type="pres">
      <dgm:prSet presAssocID="{5677A942-AED3-44A7-A7D9-26E13BE612FA}" presName="sibTrans" presStyleLbl="sibTrans2D1" presStyleIdx="5" presStyleCnt="6"/>
      <dgm:spPr/>
    </dgm:pt>
    <dgm:pt modelId="{3CB376AD-A9AF-41FB-B170-994B7B2BCFAF}" type="pres">
      <dgm:prSet presAssocID="{5677A942-AED3-44A7-A7D9-26E13BE612FA}" presName="connectorText" presStyleLbl="sibTrans2D1" presStyleIdx="5" presStyleCnt="6"/>
      <dgm:spPr/>
    </dgm:pt>
  </dgm:ptLst>
  <dgm:cxnLst>
    <dgm:cxn modelId="{F205ED01-F970-45D8-8B34-2D7111A3EC56}" type="presOf" srcId="{50D7D3BD-320A-4181-8629-9CD90ADAA9C6}" destId="{30D37FBF-7C61-4F75-8037-3AFE4713DE01}" srcOrd="1" destOrd="0" presId="urn:microsoft.com/office/officeart/2005/8/layout/cycle2"/>
    <dgm:cxn modelId="{031DC00B-50BE-467D-84A0-7D5D83C4FF04}" type="presOf" srcId="{015E6983-D621-4332-AA2E-64ECF1EB72A6}" destId="{48D68932-4C82-444B-AB52-A4D520B93B46}" srcOrd="0" destOrd="0" presId="urn:microsoft.com/office/officeart/2005/8/layout/cycle2"/>
    <dgm:cxn modelId="{35FB7019-C1BE-43EB-A749-0461AB63669E}" type="presOf" srcId="{3D5A7400-3AB1-4EEF-B976-D968CAF59A70}" destId="{0BC93502-4E13-4DF2-B197-84861243823A}" srcOrd="1" destOrd="0" presId="urn:microsoft.com/office/officeart/2005/8/layout/cycle2"/>
    <dgm:cxn modelId="{DFC5C61A-CF50-4F83-B307-3CDBD9DA20D6}" srcId="{E7ADF6ED-4431-45BB-924D-B97CE21E4FA7}" destId="{015E6983-D621-4332-AA2E-64ECF1EB72A6}" srcOrd="5" destOrd="0" parTransId="{6B70061F-80C5-4C80-8EA9-EA0E9E44720E}" sibTransId="{5677A942-AED3-44A7-A7D9-26E13BE612FA}"/>
    <dgm:cxn modelId="{1087F31B-583A-4E66-9C59-C391D8C894C2}" type="presOf" srcId="{6177C908-A188-47E7-9D37-9D7EE53BF670}" destId="{0E80A228-E130-4325-A463-67EB0653280A}" srcOrd="1" destOrd="0" presId="urn:microsoft.com/office/officeart/2005/8/layout/cycle2"/>
    <dgm:cxn modelId="{4D202133-B9B8-4687-980D-7A536E02E671}" type="presOf" srcId="{8646AC07-90A2-4153-8DA7-0F62ED709460}" destId="{D00DE3B3-72DF-4066-B2D6-3C83397D3D5D}" srcOrd="1" destOrd="0" presId="urn:microsoft.com/office/officeart/2005/8/layout/cycle2"/>
    <dgm:cxn modelId="{DFECE737-4461-4C4E-8B77-295852CF5368}" srcId="{E7ADF6ED-4431-45BB-924D-B97CE21E4FA7}" destId="{48367BE8-3E0E-48D7-8E49-862F58B20F49}" srcOrd="3" destOrd="0" parTransId="{1B570DBF-6738-4F14-B332-9FE8F4D227CE}" sibTransId="{6177C908-A188-47E7-9D37-9D7EE53BF670}"/>
    <dgm:cxn modelId="{F7AEEA38-C6B5-4FD9-B80A-D3838A6EAC5F}" type="presOf" srcId="{5677A942-AED3-44A7-A7D9-26E13BE612FA}" destId="{CC14758F-FF60-4C0F-9D99-2D6B7276E0DB}" srcOrd="0" destOrd="0" presId="urn:microsoft.com/office/officeart/2005/8/layout/cycle2"/>
    <dgm:cxn modelId="{B064573D-6B40-4690-B6C5-7B20EDE11E2C}" type="presOf" srcId="{23BC4A65-6A7C-4399-B3E8-D0F89A923606}" destId="{FABE28D4-51AA-4DD7-93A0-077A51312FED}" srcOrd="0" destOrd="0" presId="urn:microsoft.com/office/officeart/2005/8/layout/cycle2"/>
    <dgm:cxn modelId="{42BA0340-4C32-4EBE-893A-D3B81EAD5275}" type="presOf" srcId="{E7ADF6ED-4431-45BB-924D-B97CE21E4FA7}" destId="{DD75AD4A-75B4-4869-9D31-57325AD7B7C3}" srcOrd="0" destOrd="0" presId="urn:microsoft.com/office/officeart/2005/8/layout/cycle2"/>
    <dgm:cxn modelId="{DE8CE041-FDE5-4EB2-838D-3AC6B8A88234}" srcId="{E7ADF6ED-4431-45BB-924D-B97CE21E4FA7}" destId="{40BF8F51-D3AF-4658-B89B-7EDBE7D5C0CF}" srcOrd="0" destOrd="0" parTransId="{8033DF1D-C00F-4519-931C-A9BB267D7EDC}" sibTransId="{7ADF410B-45B9-4919-A2C4-A35AAF361E54}"/>
    <dgm:cxn modelId="{B609C142-BA4E-4405-864C-B6F2978E8904}" srcId="{E7ADF6ED-4431-45BB-924D-B97CE21E4FA7}" destId="{23BC4A65-6A7C-4399-B3E8-D0F89A923606}" srcOrd="4" destOrd="0" parTransId="{EB52A717-F5D2-40AF-88D2-732C162C18C1}" sibTransId="{3D5A7400-3AB1-4EEF-B976-D968CAF59A70}"/>
    <dgm:cxn modelId="{78A6EA6F-B4B0-43A3-B99C-5EEA5FE81DD0}" type="presOf" srcId="{40BF8F51-D3AF-4658-B89B-7EDBE7D5C0CF}" destId="{8663D156-EB8F-4CEB-BD75-27CD89312F05}" srcOrd="0" destOrd="0" presId="urn:microsoft.com/office/officeart/2005/8/layout/cycle2"/>
    <dgm:cxn modelId="{B999F157-DFBD-4F0B-A31C-1CCB67921543}" srcId="{E7ADF6ED-4431-45BB-924D-B97CE21E4FA7}" destId="{AC5682C1-2954-4C1C-80B1-17C5C018994D}" srcOrd="2" destOrd="0" parTransId="{681EB8AC-DEE4-4DA3-9803-AC0492DB2B45}" sibTransId="{50D7D3BD-320A-4181-8629-9CD90ADAA9C6}"/>
    <dgm:cxn modelId="{6C7AE9A4-3474-4663-9F83-9E7B683DDCCF}" type="presOf" srcId="{5677A942-AED3-44A7-A7D9-26E13BE612FA}" destId="{3CB376AD-A9AF-41FB-B170-994B7B2BCFAF}" srcOrd="1" destOrd="0" presId="urn:microsoft.com/office/officeart/2005/8/layout/cycle2"/>
    <dgm:cxn modelId="{1CE1ABA5-7D49-4EA3-AC32-36F614CF5A1B}" type="presOf" srcId="{48367BE8-3E0E-48D7-8E49-862F58B20F49}" destId="{8095C9BE-D6EB-4006-96C2-D4CAE80973B4}" srcOrd="0" destOrd="0" presId="urn:microsoft.com/office/officeart/2005/8/layout/cycle2"/>
    <dgm:cxn modelId="{35E8FAB2-98CE-4051-BB9E-57FABD5C038C}" type="presOf" srcId="{8646AC07-90A2-4153-8DA7-0F62ED709460}" destId="{52BD2496-7882-49AE-A2EF-B9B1C8B6F9E6}" srcOrd="0" destOrd="0" presId="urn:microsoft.com/office/officeart/2005/8/layout/cycle2"/>
    <dgm:cxn modelId="{C52CA5C1-7378-4152-9A83-6E1D5DEBA753}" type="presOf" srcId="{E164CED8-4197-4D68-B41F-6B67A9E6FF2D}" destId="{6D973B92-7B95-4A15-A81F-C619B5DE10B2}" srcOrd="0" destOrd="0" presId="urn:microsoft.com/office/officeart/2005/8/layout/cycle2"/>
    <dgm:cxn modelId="{6BCD4DC2-EA1A-4DDE-9B8D-514F1B3DA26D}" type="presOf" srcId="{7ADF410B-45B9-4919-A2C4-A35AAF361E54}" destId="{D8716CAA-B5FE-403C-98E8-CAA88D74F369}" srcOrd="0" destOrd="0" presId="urn:microsoft.com/office/officeart/2005/8/layout/cycle2"/>
    <dgm:cxn modelId="{36AB2CCA-A7EA-4339-9DCC-496AFCE46844}" type="presOf" srcId="{50D7D3BD-320A-4181-8629-9CD90ADAA9C6}" destId="{BE1C70C2-3872-4B31-A4B8-320F7C5A71F3}" srcOrd="0" destOrd="0" presId="urn:microsoft.com/office/officeart/2005/8/layout/cycle2"/>
    <dgm:cxn modelId="{BECCDDD3-0C2F-4BE7-BD26-36E28D4B60B5}" srcId="{E7ADF6ED-4431-45BB-924D-B97CE21E4FA7}" destId="{E164CED8-4197-4D68-B41F-6B67A9E6FF2D}" srcOrd="1" destOrd="0" parTransId="{8180E77F-3554-418C-8FA2-E9B8A7190F7D}" sibTransId="{8646AC07-90A2-4153-8DA7-0F62ED709460}"/>
    <dgm:cxn modelId="{B71FE7E3-8D04-4B76-927C-B45E9413AC82}" type="presOf" srcId="{6177C908-A188-47E7-9D37-9D7EE53BF670}" destId="{DA48539E-3827-433F-86E1-D79F03B168D7}" srcOrd="0" destOrd="0" presId="urn:microsoft.com/office/officeart/2005/8/layout/cycle2"/>
    <dgm:cxn modelId="{B8910FED-6768-4BED-9FB6-7A7A3AA1574A}" type="presOf" srcId="{AC5682C1-2954-4C1C-80B1-17C5C018994D}" destId="{5627FF9B-F1BC-42AA-85E2-C92E33C5966B}" srcOrd="0" destOrd="0" presId="urn:microsoft.com/office/officeart/2005/8/layout/cycle2"/>
    <dgm:cxn modelId="{3C4D33EE-9E97-4D39-AAEC-A5076A633BF6}" type="presOf" srcId="{7ADF410B-45B9-4919-A2C4-A35AAF361E54}" destId="{8DA4A132-69B2-4814-9E2D-E5D5481226F4}" srcOrd="1" destOrd="0" presId="urn:microsoft.com/office/officeart/2005/8/layout/cycle2"/>
    <dgm:cxn modelId="{434E32FC-CDD3-4802-AFB2-0A5C0BA66B9D}" type="presOf" srcId="{3D5A7400-3AB1-4EEF-B976-D968CAF59A70}" destId="{405C3241-75E1-4388-BAD0-7371E296543B}" srcOrd="0" destOrd="0" presId="urn:microsoft.com/office/officeart/2005/8/layout/cycle2"/>
    <dgm:cxn modelId="{5B0AA451-D8A1-4706-BB00-FBD2CFCAC732}" type="presParOf" srcId="{DD75AD4A-75B4-4869-9D31-57325AD7B7C3}" destId="{8663D156-EB8F-4CEB-BD75-27CD89312F05}" srcOrd="0" destOrd="0" presId="urn:microsoft.com/office/officeart/2005/8/layout/cycle2"/>
    <dgm:cxn modelId="{89318079-3B1F-4F04-BCDF-C6CA6BCBA18C}" type="presParOf" srcId="{DD75AD4A-75B4-4869-9D31-57325AD7B7C3}" destId="{D8716CAA-B5FE-403C-98E8-CAA88D74F369}" srcOrd="1" destOrd="0" presId="urn:microsoft.com/office/officeart/2005/8/layout/cycle2"/>
    <dgm:cxn modelId="{382DE82F-CD97-48F4-9193-AE1378E0BF50}" type="presParOf" srcId="{D8716CAA-B5FE-403C-98E8-CAA88D74F369}" destId="{8DA4A132-69B2-4814-9E2D-E5D5481226F4}" srcOrd="0" destOrd="0" presId="urn:microsoft.com/office/officeart/2005/8/layout/cycle2"/>
    <dgm:cxn modelId="{1E45CD82-7676-485E-B62C-F72F78D702D3}" type="presParOf" srcId="{DD75AD4A-75B4-4869-9D31-57325AD7B7C3}" destId="{6D973B92-7B95-4A15-A81F-C619B5DE10B2}" srcOrd="2" destOrd="0" presId="urn:microsoft.com/office/officeart/2005/8/layout/cycle2"/>
    <dgm:cxn modelId="{D30F859D-04C2-49D1-93CD-317F40CD7F2C}" type="presParOf" srcId="{DD75AD4A-75B4-4869-9D31-57325AD7B7C3}" destId="{52BD2496-7882-49AE-A2EF-B9B1C8B6F9E6}" srcOrd="3" destOrd="0" presId="urn:microsoft.com/office/officeart/2005/8/layout/cycle2"/>
    <dgm:cxn modelId="{DB46A1A4-673E-4BDE-ACF4-21FFE0BBA81F}" type="presParOf" srcId="{52BD2496-7882-49AE-A2EF-B9B1C8B6F9E6}" destId="{D00DE3B3-72DF-4066-B2D6-3C83397D3D5D}" srcOrd="0" destOrd="0" presId="urn:microsoft.com/office/officeart/2005/8/layout/cycle2"/>
    <dgm:cxn modelId="{BD7C6C0C-3859-4875-8866-851400A04121}" type="presParOf" srcId="{DD75AD4A-75B4-4869-9D31-57325AD7B7C3}" destId="{5627FF9B-F1BC-42AA-85E2-C92E33C5966B}" srcOrd="4" destOrd="0" presId="urn:microsoft.com/office/officeart/2005/8/layout/cycle2"/>
    <dgm:cxn modelId="{4C985310-A8E1-4D4E-BC08-4233D0E5D7C5}" type="presParOf" srcId="{DD75AD4A-75B4-4869-9D31-57325AD7B7C3}" destId="{BE1C70C2-3872-4B31-A4B8-320F7C5A71F3}" srcOrd="5" destOrd="0" presId="urn:microsoft.com/office/officeart/2005/8/layout/cycle2"/>
    <dgm:cxn modelId="{065F3E14-8084-4E9F-B838-3D072F647FDC}" type="presParOf" srcId="{BE1C70C2-3872-4B31-A4B8-320F7C5A71F3}" destId="{30D37FBF-7C61-4F75-8037-3AFE4713DE01}" srcOrd="0" destOrd="0" presId="urn:microsoft.com/office/officeart/2005/8/layout/cycle2"/>
    <dgm:cxn modelId="{4D09A4B6-11FB-4340-BD74-A734E40D4994}" type="presParOf" srcId="{DD75AD4A-75B4-4869-9D31-57325AD7B7C3}" destId="{8095C9BE-D6EB-4006-96C2-D4CAE80973B4}" srcOrd="6" destOrd="0" presId="urn:microsoft.com/office/officeart/2005/8/layout/cycle2"/>
    <dgm:cxn modelId="{55A404B0-5137-4C2A-891F-0C0EC720A718}" type="presParOf" srcId="{DD75AD4A-75B4-4869-9D31-57325AD7B7C3}" destId="{DA48539E-3827-433F-86E1-D79F03B168D7}" srcOrd="7" destOrd="0" presId="urn:microsoft.com/office/officeart/2005/8/layout/cycle2"/>
    <dgm:cxn modelId="{4FF10818-63F6-4A86-9E33-C8447FF22C3F}" type="presParOf" srcId="{DA48539E-3827-433F-86E1-D79F03B168D7}" destId="{0E80A228-E130-4325-A463-67EB0653280A}" srcOrd="0" destOrd="0" presId="urn:microsoft.com/office/officeart/2005/8/layout/cycle2"/>
    <dgm:cxn modelId="{E9600919-47C7-4A91-B6A0-36BAA781394D}" type="presParOf" srcId="{DD75AD4A-75B4-4869-9D31-57325AD7B7C3}" destId="{FABE28D4-51AA-4DD7-93A0-077A51312FED}" srcOrd="8" destOrd="0" presId="urn:microsoft.com/office/officeart/2005/8/layout/cycle2"/>
    <dgm:cxn modelId="{7E2693B4-7407-4707-B2C5-6E6AF1D020B1}" type="presParOf" srcId="{DD75AD4A-75B4-4869-9D31-57325AD7B7C3}" destId="{405C3241-75E1-4388-BAD0-7371E296543B}" srcOrd="9" destOrd="0" presId="urn:microsoft.com/office/officeart/2005/8/layout/cycle2"/>
    <dgm:cxn modelId="{141D3927-CF0A-495A-9BF7-7CA01113DFFA}" type="presParOf" srcId="{405C3241-75E1-4388-BAD0-7371E296543B}" destId="{0BC93502-4E13-4DF2-B197-84861243823A}" srcOrd="0" destOrd="0" presId="urn:microsoft.com/office/officeart/2005/8/layout/cycle2"/>
    <dgm:cxn modelId="{0337C203-789C-4C95-BBE3-157D916037F4}" type="presParOf" srcId="{DD75AD4A-75B4-4869-9D31-57325AD7B7C3}" destId="{48D68932-4C82-444B-AB52-A4D520B93B46}" srcOrd="10" destOrd="0" presId="urn:microsoft.com/office/officeart/2005/8/layout/cycle2"/>
    <dgm:cxn modelId="{D8993A34-180A-47B5-A724-C393C5710379}" type="presParOf" srcId="{DD75AD4A-75B4-4869-9D31-57325AD7B7C3}" destId="{CC14758F-FF60-4C0F-9D99-2D6B7276E0DB}" srcOrd="11" destOrd="0" presId="urn:microsoft.com/office/officeart/2005/8/layout/cycle2"/>
    <dgm:cxn modelId="{B588E234-7AD7-4A7D-9A4B-3F7C3B12A1EF}" type="presParOf" srcId="{CC14758F-FF60-4C0F-9D99-2D6B7276E0DB}" destId="{3CB376AD-A9AF-41FB-B170-994B7B2BCFA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3D156-EB8F-4CEB-BD75-27CD89312F05}">
      <dsp:nvSpPr>
        <dsp:cNvPr id="0" name=""/>
        <dsp:cNvSpPr/>
      </dsp:nvSpPr>
      <dsp:spPr>
        <a:xfrm>
          <a:off x="4821882" y="1294"/>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1. Research Practice Question</a:t>
          </a:r>
        </a:p>
      </dsp:txBody>
      <dsp:txXfrm>
        <a:off x="5025442" y="204854"/>
        <a:ext cx="982875" cy="982875"/>
      </dsp:txXfrm>
    </dsp:sp>
    <dsp:sp modelId="{D8716CAA-B5FE-403C-98E8-CAA88D74F369}">
      <dsp:nvSpPr>
        <dsp:cNvPr id="0" name=""/>
        <dsp:cNvSpPr/>
      </dsp:nvSpPr>
      <dsp:spPr>
        <a:xfrm rot="1800000">
          <a:off x="6226676" y="978033"/>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234090" y="1044188"/>
        <a:ext cx="258253" cy="281473"/>
      </dsp:txXfrm>
    </dsp:sp>
    <dsp:sp modelId="{6D973B92-7B95-4A15-A81F-C619B5DE10B2}">
      <dsp:nvSpPr>
        <dsp:cNvPr id="0" name=""/>
        <dsp:cNvSpPr/>
      </dsp:nvSpPr>
      <dsp:spPr>
        <a:xfrm>
          <a:off x="6628494" y="1044342"/>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2. Locate Relevant Research Knowledge </a:t>
          </a:r>
        </a:p>
      </dsp:txBody>
      <dsp:txXfrm>
        <a:off x="6832054" y="1247902"/>
        <a:ext cx="982875" cy="982875"/>
      </dsp:txXfrm>
    </dsp:sp>
    <dsp:sp modelId="{52BD2496-7882-49AE-A2EF-B9B1C8B6F9E6}">
      <dsp:nvSpPr>
        <dsp:cNvPr id="0" name=""/>
        <dsp:cNvSpPr/>
      </dsp:nvSpPr>
      <dsp:spPr>
        <a:xfrm rot="5400000">
          <a:off x="7139025" y="2537385"/>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194365" y="2575870"/>
        <a:ext cx="258253" cy="281473"/>
      </dsp:txXfrm>
    </dsp:sp>
    <dsp:sp modelId="{5627FF9B-F1BC-42AA-85E2-C92E33C5966B}">
      <dsp:nvSpPr>
        <dsp:cNvPr id="0" name=""/>
        <dsp:cNvSpPr/>
      </dsp:nvSpPr>
      <dsp:spPr>
        <a:xfrm>
          <a:off x="6628494" y="3130439"/>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3. Critically Appraise the Knowledge </a:t>
          </a:r>
        </a:p>
      </dsp:txBody>
      <dsp:txXfrm>
        <a:off x="6832054" y="3333999"/>
        <a:ext cx="982875" cy="982875"/>
      </dsp:txXfrm>
    </dsp:sp>
    <dsp:sp modelId="{BE1C70C2-3872-4B31-A4B8-320F7C5A71F3}">
      <dsp:nvSpPr>
        <dsp:cNvPr id="0" name=""/>
        <dsp:cNvSpPr/>
      </dsp:nvSpPr>
      <dsp:spPr>
        <a:xfrm rot="9000000">
          <a:off x="6244761" y="4107178"/>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6348027" y="4173333"/>
        <a:ext cx="258253" cy="281473"/>
      </dsp:txXfrm>
    </dsp:sp>
    <dsp:sp modelId="{8095C9BE-D6EB-4006-96C2-D4CAE80973B4}">
      <dsp:nvSpPr>
        <dsp:cNvPr id="0" name=""/>
        <dsp:cNvSpPr/>
      </dsp:nvSpPr>
      <dsp:spPr>
        <a:xfrm>
          <a:off x="4821882" y="4173487"/>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4. Discuss what you find with the client</a:t>
          </a:r>
        </a:p>
      </dsp:txBody>
      <dsp:txXfrm>
        <a:off x="5025442" y="4377047"/>
        <a:ext cx="982875" cy="982875"/>
      </dsp:txXfrm>
    </dsp:sp>
    <dsp:sp modelId="{DA48539E-3827-433F-86E1-D79F03B168D7}">
      <dsp:nvSpPr>
        <dsp:cNvPr id="0" name=""/>
        <dsp:cNvSpPr/>
      </dsp:nvSpPr>
      <dsp:spPr>
        <a:xfrm rot="12600000">
          <a:off x="4438149" y="4117619"/>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4541415" y="4239114"/>
        <a:ext cx="258253" cy="281473"/>
      </dsp:txXfrm>
    </dsp:sp>
    <dsp:sp modelId="{FABE28D4-51AA-4DD7-93A0-077A51312FED}">
      <dsp:nvSpPr>
        <dsp:cNvPr id="0" name=""/>
        <dsp:cNvSpPr/>
      </dsp:nvSpPr>
      <dsp:spPr>
        <a:xfrm>
          <a:off x="3015270" y="3130439"/>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5.Develop an Intervention Plan </a:t>
          </a:r>
        </a:p>
      </dsp:txBody>
      <dsp:txXfrm>
        <a:off x="3218830" y="3333999"/>
        <a:ext cx="982875" cy="982875"/>
      </dsp:txXfrm>
    </dsp:sp>
    <dsp:sp modelId="{405C3241-75E1-4388-BAD0-7371E296543B}">
      <dsp:nvSpPr>
        <dsp:cNvPr id="0" name=""/>
        <dsp:cNvSpPr/>
      </dsp:nvSpPr>
      <dsp:spPr>
        <a:xfrm rot="16200000">
          <a:off x="3525800" y="2558268"/>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581140" y="2707433"/>
        <a:ext cx="258253" cy="281473"/>
      </dsp:txXfrm>
    </dsp:sp>
    <dsp:sp modelId="{48D68932-4C82-444B-AB52-A4D520B93B46}">
      <dsp:nvSpPr>
        <dsp:cNvPr id="0" name=""/>
        <dsp:cNvSpPr/>
      </dsp:nvSpPr>
      <dsp:spPr>
        <a:xfrm>
          <a:off x="3015270" y="1044342"/>
          <a:ext cx="1389995" cy="138999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6. Implement and Evaluate.</a:t>
          </a:r>
        </a:p>
      </dsp:txBody>
      <dsp:txXfrm>
        <a:off x="3218830" y="1247902"/>
        <a:ext cx="982875" cy="982875"/>
      </dsp:txXfrm>
    </dsp:sp>
    <dsp:sp modelId="{CC14758F-FF60-4C0F-9D99-2D6B7276E0DB}">
      <dsp:nvSpPr>
        <dsp:cNvPr id="0" name=""/>
        <dsp:cNvSpPr/>
      </dsp:nvSpPr>
      <dsp:spPr>
        <a:xfrm rot="19800000">
          <a:off x="4420064" y="988475"/>
          <a:ext cx="368933" cy="4691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427478" y="1109970"/>
        <a:ext cx="258253" cy="28147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68BC680B-6302-4DB5-B76C-82273462A7AB}" type="datetimeFigureOut">
              <a:rPr lang="en-US" smtClean="0"/>
              <a:t>1/14/2026</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7B337641-AE84-4C2B-8DF9-DD82278C1CFE}" type="slidenum">
              <a:rPr lang="en-US" smtClean="0"/>
              <a:t>‹#›</a:t>
            </a:fld>
            <a:endParaRPr lang="en-US"/>
          </a:p>
        </p:txBody>
      </p:sp>
    </p:spTree>
    <p:extLst>
      <p:ext uri="{BB962C8B-B14F-4D97-AF65-F5344CB8AC3E}">
        <p14:creationId xmlns:p14="http://schemas.microsoft.com/office/powerpoint/2010/main" val="4177619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85DC0A-5E3B-43D5-B5F9-A43E2965C7A5}" type="datetimeFigureOut">
              <a:rPr lang="en-US" smtClean="0"/>
              <a:t>1/14/2026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8FF7197B-D5C0-422D-B627-5C21E7A15ACD}" type="slidenum">
              <a:rPr lang="en-US" smtClean="0"/>
              <a:t>‹#›</a:t>
            </a:fld>
            <a:endParaRPr lang="en-US"/>
          </a:p>
        </p:txBody>
      </p:sp>
    </p:spTree>
    <p:extLst>
      <p:ext uri="{BB962C8B-B14F-4D97-AF65-F5344CB8AC3E}">
        <p14:creationId xmlns:p14="http://schemas.microsoft.com/office/powerpoint/2010/main" val="3801819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1/14/2026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GuY79IKLO5U"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www.socialworkers.org/Practice/NASW-Practice-Standards-Guidelines/Standards-for-Technology-in-Social-Work-Practic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socialworkers.org/Practice/NASW-Practice-Standards-Guidelines/Standards-for-Technology-in-Social-Work-Practic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iuASVYZLigo"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Ethical issues in evidence-based practice and the use of technology</a:t>
            </a:r>
          </a:p>
        </p:txBody>
      </p:sp>
      <p:sp>
        <p:nvSpPr>
          <p:cNvPr id="3" name="Subtitle 2"/>
          <p:cNvSpPr>
            <a:spLocks noGrp="1"/>
          </p:cNvSpPr>
          <p:nvPr>
            <p:ph type="subTitle" idx="1"/>
          </p:nvPr>
        </p:nvSpPr>
        <p:spPr/>
        <p:txBody>
          <a:bodyPr/>
          <a:lstStyle/>
          <a:p>
            <a:r>
              <a:rPr lang="en-US" dirty="0" err="1"/>
              <a:t>Socw</a:t>
            </a:r>
            <a:r>
              <a:rPr lang="en-US" dirty="0"/>
              <a:t> 524 week 2</a:t>
            </a:r>
          </a:p>
          <a:p>
            <a:r>
              <a:rPr lang="en-US" dirty="0"/>
              <a:t>Dr. Castro-Guillen</a:t>
            </a:r>
          </a:p>
          <a:p>
            <a:endParaRPr lang="en-US" dirty="0"/>
          </a:p>
        </p:txBody>
      </p:sp>
    </p:spTree>
    <p:extLst>
      <p:ext uri="{BB962C8B-B14F-4D97-AF65-F5344CB8AC3E}">
        <p14:creationId xmlns:p14="http://schemas.microsoft.com/office/powerpoint/2010/main" val="1395373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2446" y="609601"/>
            <a:ext cx="9754780" cy="879566"/>
          </a:xfrm>
        </p:spPr>
        <p:txBody>
          <a:bodyPr/>
          <a:lstStyle/>
          <a:p>
            <a:r>
              <a:rPr lang="en-US" b="1" dirty="0">
                <a:solidFill>
                  <a:srgbClr val="FFC000"/>
                </a:solidFill>
              </a:rPr>
              <a:t>Class overview</a:t>
            </a:r>
          </a:p>
        </p:txBody>
      </p:sp>
      <p:sp>
        <p:nvSpPr>
          <p:cNvPr id="3" name="Content Placeholder 2"/>
          <p:cNvSpPr>
            <a:spLocks noGrp="1"/>
          </p:cNvSpPr>
          <p:nvPr>
            <p:ph idx="1"/>
          </p:nvPr>
        </p:nvSpPr>
        <p:spPr>
          <a:xfrm>
            <a:off x="1062446" y="1776307"/>
            <a:ext cx="9754780" cy="4313942"/>
          </a:xfrm>
        </p:spPr>
        <p:txBody>
          <a:bodyPr>
            <a:normAutofit fontScale="92500" lnSpcReduction="20000"/>
          </a:bodyPr>
          <a:lstStyle/>
          <a:p>
            <a:endParaRPr lang="en-US" sz="2400" dirty="0"/>
          </a:p>
          <a:p>
            <a:r>
              <a:rPr lang="en-US" sz="2400" dirty="0"/>
              <a:t>Welcome and Announcements</a:t>
            </a:r>
          </a:p>
          <a:p>
            <a:pPr lvl="1"/>
            <a:r>
              <a:rPr lang="en-US" sz="2200" dirty="0"/>
              <a:t>Class on 1/22/26 in person </a:t>
            </a:r>
          </a:p>
          <a:p>
            <a:pPr lvl="1"/>
            <a:r>
              <a:rPr lang="en-US" sz="2200" dirty="0"/>
              <a:t>EBP Paper Part I due 1/24/26</a:t>
            </a:r>
          </a:p>
          <a:p>
            <a:r>
              <a:rPr lang="en-US" sz="2400" dirty="0"/>
              <a:t>Article Presentations - </a:t>
            </a:r>
          </a:p>
          <a:p>
            <a:r>
              <a:rPr lang="en-US" sz="2400" dirty="0"/>
              <a:t>Today’s topic – Ethical Issues in Evidenced-based Practice and the Use of Technology</a:t>
            </a:r>
          </a:p>
          <a:p>
            <a:r>
              <a:rPr lang="en-US" sz="2600" dirty="0"/>
              <a:t>In-class learning activities</a:t>
            </a:r>
            <a:endParaRPr lang="en-US" sz="2400" dirty="0"/>
          </a:p>
          <a:p>
            <a:pPr lvl="1"/>
            <a:r>
              <a:rPr lang="en-US" sz="2400" dirty="0"/>
              <a:t>PICOT Practice with a case study</a:t>
            </a:r>
          </a:p>
          <a:p>
            <a:pPr lvl="1"/>
            <a:r>
              <a:rPr lang="en-US" sz="2400" dirty="0"/>
              <a:t>PICOT Question Template</a:t>
            </a:r>
          </a:p>
          <a:p>
            <a:r>
              <a:rPr lang="en-US" sz="2600" dirty="0"/>
              <a:t>Next Class</a:t>
            </a:r>
          </a:p>
          <a:p>
            <a:pPr marL="0" indent="0">
              <a:buNone/>
            </a:pPr>
            <a:endParaRPr lang="en-US" dirty="0"/>
          </a:p>
          <a:p>
            <a:endParaRPr lang="en-US" dirty="0"/>
          </a:p>
        </p:txBody>
      </p:sp>
    </p:spTree>
    <p:extLst>
      <p:ext uri="{BB962C8B-B14F-4D97-AF65-F5344CB8AC3E}">
        <p14:creationId xmlns:p14="http://schemas.microsoft.com/office/powerpoint/2010/main" val="3399742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69064" y="526158"/>
            <a:ext cx="5269583" cy="5767854"/>
          </a:xfrm>
          <a:prstGeom prst="rect">
            <a:avLst/>
          </a:prstGeom>
        </p:spPr>
      </p:pic>
      <p:sp>
        <p:nvSpPr>
          <p:cNvPr id="3" name="TextBox 2"/>
          <p:cNvSpPr txBox="1"/>
          <p:nvPr/>
        </p:nvSpPr>
        <p:spPr>
          <a:xfrm>
            <a:off x="1069848" y="630936"/>
            <a:ext cx="1202573" cy="461665"/>
          </a:xfrm>
          <a:prstGeom prst="rect">
            <a:avLst/>
          </a:prstGeom>
          <a:noFill/>
        </p:spPr>
        <p:txBody>
          <a:bodyPr wrap="none" rtlCol="0">
            <a:spAutoFit/>
          </a:bodyPr>
          <a:lstStyle/>
          <a:p>
            <a:r>
              <a:rPr lang="en-US" sz="2400" b="1" dirty="0">
                <a:solidFill>
                  <a:srgbClr val="FFC000"/>
                </a:solidFill>
              </a:rPr>
              <a:t>REVIEW</a:t>
            </a:r>
          </a:p>
        </p:txBody>
      </p:sp>
      <p:sp>
        <p:nvSpPr>
          <p:cNvPr id="4" name="TextBox 3"/>
          <p:cNvSpPr txBox="1"/>
          <p:nvPr/>
        </p:nvSpPr>
        <p:spPr>
          <a:xfrm>
            <a:off x="11747863" y="6400800"/>
            <a:ext cx="301686" cy="369332"/>
          </a:xfrm>
          <a:prstGeom prst="rect">
            <a:avLst/>
          </a:prstGeom>
          <a:noFill/>
        </p:spPr>
        <p:txBody>
          <a:bodyPr wrap="none" rtlCol="0">
            <a:spAutoFit/>
          </a:bodyPr>
          <a:lstStyle/>
          <a:p>
            <a:fld id="{CE0F3F9C-ACF7-4C91-A650-6BCA2C2E0A23}" type="slidenum">
              <a:rPr lang="en-US" smtClean="0"/>
              <a:t>3</a:t>
            </a:fld>
            <a:endParaRPr lang="en-US" dirty="0"/>
          </a:p>
        </p:txBody>
      </p:sp>
    </p:spTree>
    <p:extLst>
      <p:ext uri="{BB962C8B-B14F-4D97-AF65-F5344CB8AC3E}">
        <p14:creationId xmlns:p14="http://schemas.microsoft.com/office/powerpoint/2010/main" val="129127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209006"/>
            <a:ext cx="10131425" cy="801188"/>
          </a:xfrm>
        </p:spPr>
        <p:txBody>
          <a:bodyPr/>
          <a:lstStyle/>
          <a:p>
            <a:pPr algn="ctr"/>
            <a:r>
              <a:rPr lang="en-US" dirty="0"/>
              <a:t>six-Step Process</a:t>
            </a:r>
          </a:p>
        </p:txBody>
      </p:sp>
      <p:graphicFrame>
        <p:nvGraphicFramePr>
          <p:cNvPr id="4" name="Content Placeholder 3"/>
          <p:cNvGraphicFramePr>
            <a:graphicFrameLocks noGrp="1"/>
          </p:cNvGraphicFramePr>
          <p:nvPr>
            <p:ph idx="1"/>
          </p:nvPr>
        </p:nvGraphicFramePr>
        <p:xfrm>
          <a:off x="391887" y="1010194"/>
          <a:ext cx="11033760" cy="55647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764178" y="1375954"/>
            <a:ext cx="1804852" cy="2246769"/>
          </a:xfrm>
          <a:prstGeom prst="rect">
            <a:avLst/>
          </a:prstGeom>
          <a:noFill/>
        </p:spPr>
        <p:txBody>
          <a:bodyPr wrap="square" rtlCol="0">
            <a:spAutoFit/>
          </a:bodyPr>
          <a:lstStyle/>
          <a:p>
            <a:r>
              <a:rPr lang="en-US" sz="2800" dirty="0"/>
              <a:t>This is what we aim for in SW Practice.</a:t>
            </a:r>
          </a:p>
        </p:txBody>
      </p:sp>
      <p:pic>
        <p:nvPicPr>
          <p:cNvPr id="3" name="Picture 2">
            <a:extLst>
              <a:ext uri="{FF2B5EF4-FFF2-40B4-BE49-F238E27FC236}">
                <a16:creationId xmlns:a16="http://schemas.microsoft.com/office/drawing/2014/main" id="{008B52DA-1C2D-4A47-B484-9E17D582B94B}"/>
              </a:ext>
            </a:extLst>
          </p:cNvPr>
          <p:cNvPicPr>
            <a:picLocks noChangeAspect="1"/>
          </p:cNvPicPr>
          <p:nvPr/>
        </p:nvPicPr>
        <p:blipFill>
          <a:blip r:embed="rId7"/>
          <a:stretch>
            <a:fillRect/>
          </a:stretch>
        </p:blipFill>
        <p:spPr>
          <a:xfrm>
            <a:off x="391887" y="289533"/>
            <a:ext cx="1371719" cy="640135"/>
          </a:xfrm>
          <a:prstGeom prst="rect">
            <a:avLst/>
          </a:prstGeom>
        </p:spPr>
      </p:pic>
    </p:spTree>
    <p:extLst>
      <p:ext uri="{BB962C8B-B14F-4D97-AF65-F5344CB8AC3E}">
        <p14:creationId xmlns:p14="http://schemas.microsoft.com/office/powerpoint/2010/main" val="3239252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03186"/>
            <a:ext cx="10131427" cy="1468800"/>
          </a:xfrm>
        </p:spPr>
        <p:txBody>
          <a:bodyPr/>
          <a:lstStyle/>
          <a:p>
            <a:pPr algn="ctr"/>
            <a:r>
              <a:rPr lang="en-US" b="1" dirty="0">
                <a:solidFill>
                  <a:srgbClr val="FFC000"/>
                </a:solidFill>
              </a:rPr>
              <a:t>Ethics and values in evidenced-based practice</a:t>
            </a:r>
          </a:p>
        </p:txBody>
      </p:sp>
    </p:spTree>
    <p:extLst>
      <p:ext uri="{BB962C8B-B14F-4D97-AF65-F5344CB8AC3E}">
        <p14:creationId xmlns:p14="http://schemas.microsoft.com/office/powerpoint/2010/main" val="1219404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42E4-A224-F6E0-BC73-37E0192AE268}"/>
              </a:ext>
            </a:extLst>
          </p:cNvPr>
          <p:cNvSpPr>
            <a:spLocks noGrp="1"/>
          </p:cNvSpPr>
          <p:nvPr>
            <p:ph type="title"/>
          </p:nvPr>
        </p:nvSpPr>
        <p:spPr/>
        <p:txBody>
          <a:bodyPr/>
          <a:lstStyle/>
          <a:p>
            <a:r>
              <a:rPr lang="en-US" dirty="0">
                <a:solidFill>
                  <a:srgbClr val="FFC000"/>
                </a:solidFill>
              </a:rPr>
              <a:t>Important Concepts – simple internet search</a:t>
            </a:r>
          </a:p>
        </p:txBody>
      </p:sp>
      <p:sp>
        <p:nvSpPr>
          <p:cNvPr id="3" name="Content Placeholder 2">
            <a:extLst>
              <a:ext uri="{FF2B5EF4-FFF2-40B4-BE49-F238E27FC236}">
                <a16:creationId xmlns:a16="http://schemas.microsoft.com/office/drawing/2014/main" id="{85633FDB-9824-3B16-CF2D-DAE8B37D4381}"/>
              </a:ext>
            </a:extLst>
          </p:cNvPr>
          <p:cNvSpPr>
            <a:spLocks noGrp="1"/>
          </p:cNvSpPr>
          <p:nvPr>
            <p:ph idx="1"/>
          </p:nvPr>
        </p:nvSpPr>
        <p:spPr/>
        <p:txBody>
          <a:bodyPr/>
          <a:lstStyle/>
          <a:p>
            <a:r>
              <a:rPr lang="en-US" sz="2400" dirty="0">
                <a:solidFill>
                  <a:srgbClr val="FFC000"/>
                </a:solidFill>
              </a:rPr>
              <a:t>Ethics</a:t>
            </a:r>
            <a:r>
              <a:rPr lang="en-US" sz="2400" dirty="0"/>
              <a:t> – moral principles that govern a person’s behavior or the conducting of an activity</a:t>
            </a:r>
          </a:p>
          <a:p>
            <a:r>
              <a:rPr lang="en-US" sz="2400" dirty="0">
                <a:solidFill>
                  <a:srgbClr val="FFC000"/>
                </a:solidFill>
              </a:rPr>
              <a:t>Morals</a:t>
            </a:r>
            <a:r>
              <a:rPr lang="en-US" sz="2400" dirty="0"/>
              <a:t> – beliefs about what is right and wrong; principles that people live by</a:t>
            </a:r>
          </a:p>
          <a:p>
            <a:r>
              <a:rPr lang="en-US" sz="2400" dirty="0">
                <a:solidFill>
                  <a:srgbClr val="FFC000"/>
                </a:solidFill>
              </a:rPr>
              <a:t>Values</a:t>
            </a:r>
            <a:r>
              <a:rPr lang="en-US" sz="2400" dirty="0"/>
              <a:t> – beliefs about what is important</a:t>
            </a:r>
          </a:p>
          <a:p>
            <a:endParaRPr lang="en-US" dirty="0"/>
          </a:p>
        </p:txBody>
      </p:sp>
    </p:spTree>
    <p:extLst>
      <p:ext uri="{BB962C8B-B14F-4D97-AF65-F5344CB8AC3E}">
        <p14:creationId xmlns:p14="http://schemas.microsoft.com/office/powerpoint/2010/main" val="130243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89641" y="312812"/>
            <a:ext cx="9108213" cy="6023370"/>
          </a:xfrm>
          <a:prstGeom prst="rect">
            <a:avLst/>
          </a:prstGeom>
        </p:spPr>
      </p:pic>
      <p:sp>
        <p:nvSpPr>
          <p:cNvPr id="5" name="Rectangle 4"/>
          <p:cNvSpPr/>
          <p:nvPr/>
        </p:nvSpPr>
        <p:spPr>
          <a:xfrm>
            <a:off x="1898468" y="5883869"/>
            <a:ext cx="8290560" cy="369332"/>
          </a:xfrm>
          <a:prstGeom prst="rect">
            <a:avLst/>
          </a:prstGeom>
        </p:spPr>
        <p:txBody>
          <a:bodyPr wrap="square">
            <a:spAutoFit/>
          </a:bodyPr>
          <a:lstStyle/>
          <a:p>
            <a:r>
              <a:rPr lang="en-US" dirty="0">
                <a:solidFill>
                  <a:srgbClr val="FFC000"/>
                </a:solidFill>
              </a:rPr>
              <a:t>https://healthcaresalute-soinsdesantesalute.com/items/what-are-morals/</a:t>
            </a:r>
          </a:p>
        </p:txBody>
      </p:sp>
    </p:spTree>
    <p:extLst>
      <p:ext uri="{BB962C8B-B14F-4D97-AF65-F5344CB8AC3E}">
        <p14:creationId xmlns:p14="http://schemas.microsoft.com/office/powerpoint/2010/main" val="49007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rPr>
              <a:t>Quote	</a:t>
            </a:r>
            <a:r>
              <a:rPr lang="en-US" dirty="0"/>
              <a:t>		</a:t>
            </a:r>
          </a:p>
        </p:txBody>
      </p:sp>
      <p:sp>
        <p:nvSpPr>
          <p:cNvPr id="3" name="Content Placeholder 2"/>
          <p:cNvSpPr>
            <a:spLocks noGrp="1"/>
          </p:cNvSpPr>
          <p:nvPr>
            <p:ph idx="1"/>
          </p:nvPr>
        </p:nvSpPr>
        <p:spPr/>
        <p:txBody>
          <a:bodyPr>
            <a:normAutofit/>
          </a:bodyPr>
          <a:lstStyle/>
          <a:p>
            <a:r>
              <a:rPr lang="en-US" sz="2400" dirty="0"/>
              <a:t>H.J. Aponte (1994), p. 170</a:t>
            </a:r>
          </a:p>
          <a:p>
            <a:endParaRPr lang="en-US" sz="2400" dirty="0"/>
          </a:p>
          <a:p>
            <a:pPr marL="0" indent="0">
              <a:buNone/>
            </a:pPr>
            <a:r>
              <a:rPr lang="en-US" sz="2400" dirty="0"/>
              <a:t>“Values frame the entire process of therapy. Values are the social standards by which therapists define reality, identify problems, formalize evaluations, select interventions, and determine therapeutic goals. All transactions between therapists and clients involve negotiations about the respective value systems that each party brings into the therapeutic process.”</a:t>
            </a:r>
          </a:p>
        </p:txBody>
      </p:sp>
    </p:spTree>
    <p:extLst>
      <p:ext uri="{BB962C8B-B14F-4D97-AF65-F5344CB8AC3E}">
        <p14:creationId xmlns:p14="http://schemas.microsoft.com/office/powerpoint/2010/main" val="1729750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08934"/>
            <a:ext cx="10131425" cy="1456267"/>
          </a:xfrm>
        </p:spPr>
        <p:txBody>
          <a:bodyPr/>
          <a:lstStyle/>
          <a:p>
            <a:pPr algn="ctr"/>
            <a:r>
              <a:rPr lang="en-US" b="1" dirty="0">
                <a:solidFill>
                  <a:srgbClr val="FFC000"/>
                </a:solidFill>
              </a:rPr>
              <a:t>Ethical issues in evidence-based practice</a:t>
            </a:r>
          </a:p>
        </p:txBody>
      </p:sp>
      <p:sp>
        <p:nvSpPr>
          <p:cNvPr id="3" name="Text Placeholder 2"/>
          <p:cNvSpPr>
            <a:spLocks noGrp="1"/>
          </p:cNvSpPr>
          <p:nvPr>
            <p:ph type="body" idx="1"/>
          </p:nvPr>
        </p:nvSpPr>
        <p:spPr>
          <a:xfrm>
            <a:off x="685801" y="1765201"/>
            <a:ext cx="4709054" cy="576262"/>
          </a:xfrm>
        </p:spPr>
        <p:txBody>
          <a:bodyPr/>
          <a:lstStyle/>
          <a:p>
            <a:r>
              <a:rPr lang="en-US" b="1" dirty="0">
                <a:solidFill>
                  <a:srgbClr val="FFC000"/>
                </a:solidFill>
              </a:rPr>
              <a:t>Evidence for EBP Interventions</a:t>
            </a:r>
          </a:p>
        </p:txBody>
      </p:sp>
      <p:sp>
        <p:nvSpPr>
          <p:cNvPr id="4" name="Content Placeholder 3"/>
          <p:cNvSpPr>
            <a:spLocks noGrp="1"/>
          </p:cNvSpPr>
          <p:nvPr>
            <p:ph sz="half" idx="2"/>
          </p:nvPr>
        </p:nvSpPr>
        <p:spPr>
          <a:xfrm>
            <a:off x="685801" y="2632672"/>
            <a:ext cx="4996923" cy="3437201"/>
          </a:xfrm>
        </p:spPr>
        <p:txBody>
          <a:bodyPr>
            <a:normAutofit fontScale="92500" lnSpcReduction="10000"/>
          </a:bodyPr>
          <a:lstStyle/>
          <a:p>
            <a:r>
              <a:rPr lang="en-US" dirty="0"/>
              <a:t>Promotes effectiveness, efficiency, and accountability</a:t>
            </a:r>
          </a:p>
          <a:p>
            <a:r>
              <a:rPr lang="en-US" dirty="0"/>
              <a:t>History shows that social workers have seldom applied EBP in their practice</a:t>
            </a:r>
          </a:p>
          <a:p>
            <a:r>
              <a:rPr lang="en-US" dirty="0"/>
              <a:t>Research findings should guide the selection and application of interventions in practice</a:t>
            </a:r>
          </a:p>
          <a:p>
            <a:r>
              <a:rPr lang="en-US" dirty="0"/>
              <a:t>Social workers should remain current with new EBP</a:t>
            </a:r>
          </a:p>
          <a:p>
            <a:r>
              <a:rPr lang="en-US" dirty="0"/>
              <a:t>Enhances credibility of the profession</a:t>
            </a:r>
          </a:p>
          <a:p>
            <a:r>
              <a:rPr lang="en-US" dirty="0"/>
              <a:t>Helps to bridge the gap between research and practice</a:t>
            </a:r>
          </a:p>
          <a:p>
            <a:endParaRPr lang="en-US" dirty="0"/>
          </a:p>
        </p:txBody>
      </p:sp>
      <p:sp>
        <p:nvSpPr>
          <p:cNvPr id="5" name="Text Placeholder 4"/>
          <p:cNvSpPr>
            <a:spLocks noGrp="1"/>
          </p:cNvSpPr>
          <p:nvPr>
            <p:ph type="body" sz="quarter" idx="3"/>
          </p:nvPr>
        </p:nvSpPr>
        <p:spPr>
          <a:xfrm>
            <a:off x="5821892" y="1765201"/>
            <a:ext cx="5557656" cy="576262"/>
          </a:xfrm>
        </p:spPr>
        <p:txBody>
          <a:bodyPr/>
          <a:lstStyle/>
          <a:p>
            <a:r>
              <a:rPr lang="en-US" b="1" dirty="0">
                <a:solidFill>
                  <a:srgbClr val="FFC000"/>
                </a:solidFill>
              </a:rPr>
              <a:t>Evidence against EB Interventions</a:t>
            </a:r>
          </a:p>
        </p:txBody>
      </p:sp>
      <p:sp>
        <p:nvSpPr>
          <p:cNvPr id="6" name="Content Placeholder 5"/>
          <p:cNvSpPr>
            <a:spLocks noGrp="1"/>
          </p:cNvSpPr>
          <p:nvPr>
            <p:ph sz="quarter" idx="4"/>
          </p:nvPr>
        </p:nvSpPr>
        <p:spPr>
          <a:xfrm>
            <a:off x="5821892" y="2632673"/>
            <a:ext cx="4995334" cy="3437201"/>
          </a:xfrm>
        </p:spPr>
        <p:txBody>
          <a:bodyPr>
            <a:normAutofit fontScale="92500"/>
          </a:bodyPr>
          <a:lstStyle/>
          <a:p>
            <a:r>
              <a:rPr lang="en-US" dirty="0"/>
              <a:t>Lack of relevance to “real practice” in “real world”</a:t>
            </a:r>
          </a:p>
          <a:p>
            <a:r>
              <a:rPr lang="en-US" dirty="0"/>
              <a:t>Promotes “cookbook” approach to practice</a:t>
            </a:r>
          </a:p>
          <a:p>
            <a:r>
              <a:rPr lang="en-US" dirty="0"/>
              <a:t>Lack of cultural humility and sensitivity</a:t>
            </a:r>
          </a:p>
          <a:p>
            <a:r>
              <a:rPr lang="en-US" dirty="0"/>
              <a:t>Neglects other factors that influence outcomes (e.g., therapeutic relationship)</a:t>
            </a:r>
          </a:p>
          <a:p>
            <a:r>
              <a:rPr lang="en-US" dirty="0"/>
              <a:t>Cost of training and sustainability</a:t>
            </a:r>
          </a:p>
          <a:p>
            <a:r>
              <a:rPr lang="en-US" dirty="0"/>
              <a:t>Increases workload for social workers without increasing salary</a:t>
            </a:r>
          </a:p>
          <a:p>
            <a:r>
              <a:rPr lang="en-US" dirty="0"/>
              <a:t>Developers of EBPs may not be practitioners</a:t>
            </a:r>
          </a:p>
          <a:p>
            <a:endParaRPr lang="en-US" dirty="0"/>
          </a:p>
          <a:p>
            <a:endParaRPr lang="en-US" dirty="0"/>
          </a:p>
        </p:txBody>
      </p:sp>
    </p:spTree>
    <p:extLst>
      <p:ext uri="{BB962C8B-B14F-4D97-AF65-F5344CB8AC3E}">
        <p14:creationId xmlns:p14="http://schemas.microsoft.com/office/powerpoint/2010/main" val="93465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C000"/>
                </a:solidFill>
              </a:rPr>
              <a:t>Ethical and diversity considerations to consider with Evidence-based practice</a:t>
            </a:r>
          </a:p>
        </p:txBody>
      </p:sp>
      <p:sp>
        <p:nvSpPr>
          <p:cNvPr id="3" name="Content Placeholder 2"/>
          <p:cNvSpPr>
            <a:spLocks noGrp="1"/>
          </p:cNvSpPr>
          <p:nvPr>
            <p:ph idx="1"/>
          </p:nvPr>
        </p:nvSpPr>
        <p:spPr/>
        <p:txBody>
          <a:bodyPr>
            <a:normAutofit/>
          </a:bodyPr>
          <a:lstStyle/>
          <a:p>
            <a:r>
              <a:rPr lang="en-US" sz="2400" b="1" dirty="0">
                <a:solidFill>
                  <a:srgbClr val="FFC000"/>
                </a:solidFill>
              </a:rPr>
              <a:t>Furman Article (2009)</a:t>
            </a:r>
          </a:p>
          <a:p>
            <a:pPr lvl="1"/>
            <a:r>
              <a:rPr lang="en-US" sz="2400" dirty="0"/>
              <a:t>Privileging knowledge over values</a:t>
            </a:r>
          </a:p>
          <a:p>
            <a:pPr lvl="1"/>
            <a:r>
              <a:rPr lang="en-US" sz="2400" dirty="0"/>
              <a:t>Privileging some types of knowledge over others</a:t>
            </a:r>
          </a:p>
          <a:p>
            <a:pPr lvl="1"/>
            <a:r>
              <a:rPr lang="en-US" sz="2400" dirty="0"/>
              <a:t>Privileging that which is measurable</a:t>
            </a:r>
          </a:p>
          <a:p>
            <a:pPr lvl="1"/>
            <a:r>
              <a:rPr lang="en-US" sz="2400" dirty="0"/>
              <a:t>Privileging developing methods over social workers (e.g., helping relationship)</a:t>
            </a:r>
          </a:p>
        </p:txBody>
      </p:sp>
    </p:spTree>
    <p:extLst>
      <p:ext uri="{BB962C8B-B14F-4D97-AF65-F5344CB8AC3E}">
        <p14:creationId xmlns:p14="http://schemas.microsoft.com/office/powerpoint/2010/main" val="19069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C000"/>
                </a:solidFill>
              </a:rPr>
              <a:t>In-class Discussion Activity:</a:t>
            </a:r>
          </a:p>
        </p:txBody>
      </p:sp>
      <p:sp>
        <p:nvSpPr>
          <p:cNvPr id="3" name="Content Placeholder 2"/>
          <p:cNvSpPr>
            <a:spLocks noGrp="1"/>
          </p:cNvSpPr>
          <p:nvPr>
            <p:ph idx="1"/>
          </p:nvPr>
        </p:nvSpPr>
        <p:spPr/>
        <p:txBody>
          <a:bodyPr>
            <a:normAutofit fontScale="92500" lnSpcReduction="10000"/>
          </a:bodyPr>
          <a:lstStyle/>
          <a:p>
            <a:r>
              <a:rPr lang="en-US" sz="2400" b="1" dirty="0">
                <a:solidFill>
                  <a:srgbClr val="FFC000"/>
                </a:solidFill>
              </a:rPr>
              <a:t>How does </a:t>
            </a:r>
            <a:r>
              <a:rPr lang="en-US" sz="2400" b="1" i="1" dirty="0">
                <a:solidFill>
                  <a:srgbClr val="FFC000"/>
                </a:solidFill>
              </a:rPr>
              <a:t>Evidence-Based Practice </a:t>
            </a:r>
            <a:r>
              <a:rPr lang="en-US" sz="2400" b="1" dirty="0">
                <a:solidFill>
                  <a:srgbClr val="FFC000"/>
                </a:solidFill>
              </a:rPr>
              <a:t>(the process)</a:t>
            </a:r>
            <a:r>
              <a:rPr lang="en-US" sz="2400" b="1" i="1" dirty="0">
                <a:solidFill>
                  <a:srgbClr val="FFC000"/>
                </a:solidFill>
              </a:rPr>
              <a:t> </a:t>
            </a:r>
            <a:r>
              <a:rPr lang="en-US" sz="2400" b="1" dirty="0">
                <a:solidFill>
                  <a:srgbClr val="FFC000"/>
                </a:solidFill>
              </a:rPr>
              <a:t>align or not align with the Core Values of Social Work?</a:t>
            </a:r>
          </a:p>
          <a:p>
            <a:pPr lvl="1"/>
            <a:r>
              <a:rPr lang="en-US" sz="2200" dirty="0"/>
              <a:t>Service</a:t>
            </a:r>
          </a:p>
          <a:p>
            <a:pPr lvl="1"/>
            <a:r>
              <a:rPr lang="en-US" sz="2200" dirty="0"/>
              <a:t>Social Justice</a:t>
            </a:r>
          </a:p>
          <a:p>
            <a:pPr lvl="1"/>
            <a:r>
              <a:rPr lang="en-US" sz="2200" dirty="0"/>
              <a:t>Dignity and worth of the person</a:t>
            </a:r>
          </a:p>
          <a:p>
            <a:pPr lvl="1"/>
            <a:r>
              <a:rPr lang="en-US" sz="2200" dirty="0"/>
              <a:t>Importance of human relationships</a:t>
            </a:r>
          </a:p>
          <a:p>
            <a:pPr lvl="1"/>
            <a:r>
              <a:rPr lang="en-US" sz="2200" dirty="0"/>
              <a:t>Integrity</a:t>
            </a:r>
          </a:p>
          <a:p>
            <a:pPr lvl="1"/>
            <a:r>
              <a:rPr lang="en-US" sz="2200" dirty="0"/>
              <a:t>Competence</a:t>
            </a:r>
          </a:p>
          <a:p>
            <a:r>
              <a:rPr lang="en-US" sz="2400" b="1" dirty="0">
                <a:solidFill>
                  <a:srgbClr val="FFC000"/>
                </a:solidFill>
              </a:rPr>
              <a:t>What about </a:t>
            </a:r>
            <a:r>
              <a:rPr lang="en-US" sz="2400" b="1" i="1" dirty="0">
                <a:solidFill>
                  <a:srgbClr val="FFC000"/>
                </a:solidFill>
              </a:rPr>
              <a:t>Evidence-Based Interventions </a:t>
            </a:r>
            <a:r>
              <a:rPr lang="en-US" sz="2400" b="1" dirty="0">
                <a:solidFill>
                  <a:srgbClr val="FFC000"/>
                </a:solidFill>
              </a:rPr>
              <a:t>(the treatment)?</a:t>
            </a:r>
          </a:p>
        </p:txBody>
      </p:sp>
    </p:spTree>
    <p:extLst>
      <p:ext uri="{BB962C8B-B14F-4D97-AF65-F5344CB8AC3E}">
        <p14:creationId xmlns:p14="http://schemas.microsoft.com/office/powerpoint/2010/main" val="4182353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149531"/>
          </a:xfrm>
        </p:spPr>
        <p:txBody>
          <a:bodyPr/>
          <a:lstStyle/>
          <a:p>
            <a:pPr algn="ctr"/>
            <a:r>
              <a:rPr lang="en-US" dirty="0"/>
              <a:t>Five Step </a:t>
            </a:r>
            <a:r>
              <a:rPr lang="en-US" b="1" dirty="0">
                <a:solidFill>
                  <a:srgbClr val="FFC000"/>
                </a:solidFill>
              </a:rPr>
              <a:t>e-t-h-</a:t>
            </a:r>
            <a:r>
              <a:rPr lang="en-US" b="1" dirty="0" err="1">
                <a:solidFill>
                  <a:srgbClr val="FFC000"/>
                </a:solidFill>
              </a:rPr>
              <a:t>i</a:t>
            </a:r>
            <a:r>
              <a:rPr lang="en-US" b="1" dirty="0">
                <a:solidFill>
                  <a:srgbClr val="FFC000"/>
                </a:solidFill>
              </a:rPr>
              <a:t>-c</a:t>
            </a:r>
            <a:r>
              <a:rPr lang="en-US" dirty="0"/>
              <a:t> model of decision making </a:t>
            </a:r>
            <a:br>
              <a:rPr lang="en-US" dirty="0"/>
            </a:br>
            <a:r>
              <a:rPr lang="en-US" sz="1800" dirty="0"/>
              <a:t>(E. Congress, 1999)</a:t>
            </a:r>
            <a:endParaRPr lang="en-US" dirty="0"/>
          </a:p>
        </p:txBody>
      </p:sp>
      <p:sp>
        <p:nvSpPr>
          <p:cNvPr id="3" name="Content Placeholder 2"/>
          <p:cNvSpPr>
            <a:spLocks noGrp="1"/>
          </p:cNvSpPr>
          <p:nvPr>
            <p:ph idx="1"/>
          </p:nvPr>
        </p:nvSpPr>
        <p:spPr/>
        <p:txBody>
          <a:bodyPr>
            <a:noAutofit/>
          </a:bodyPr>
          <a:lstStyle/>
          <a:p>
            <a:r>
              <a:rPr lang="en-US" sz="3200" b="1" dirty="0">
                <a:solidFill>
                  <a:srgbClr val="FFC000"/>
                </a:solidFill>
              </a:rPr>
              <a:t>E</a:t>
            </a:r>
            <a:r>
              <a:rPr lang="en-US" sz="3200" dirty="0"/>
              <a:t>xamine relevant values </a:t>
            </a:r>
          </a:p>
          <a:p>
            <a:r>
              <a:rPr lang="en-US" sz="3200" b="1" dirty="0">
                <a:solidFill>
                  <a:srgbClr val="FFC000"/>
                </a:solidFill>
              </a:rPr>
              <a:t>T</a:t>
            </a:r>
            <a:r>
              <a:rPr lang="en-US" sz="3200" dirty="0"/>
              <a:t>hink about relevant laws, policies, regulations, and code provisions </a:t>
            </a:r>
          </a:p>
          <a:p>
            <a:r>
              <a:rPr lang="en-US" sz="3200" b="1" dirty="0">
                <a:solidFill>
                  <a:srgbClr val="FFC000"/>
                </a:solidFill>
              </a:rPr>
              <a:t>H</a:t>
            </a:r>
            <a:r>
              <a:rPr lang="en-US" sz="3200" dirty="0"/>
              <a:t>ypothesize about different consequences </a:t>
            </a:r>
          </a:p>
          <a:p>
            <a:r>
              <a:rPr lang="en-US" sz="3200" b="1" dirty="0">
                <a:solidFill>
                  <a:srgbClr val="FFC000"/>
                </a:solidFill>
              </a:rPr>
              <a:t>I</a:t>
            </a:r>
            <a:r>
              <a:rPr lang="en-US" sz="3200" dirty="0"/>
              <a:t>dentify who will be helped and harmed in terms of the most vulnerable </a:t>
            </a:r>
          </a:p>
          <a:p>
            <a:r>
              <a:rPr lang="en-US" sz="3200" b="1" dirty="0">
                <a:solidFill>
                  <a:srgbClr val="FFC000"/>
                </a:solidFill>
              </a:rPr>
              <a:t>C</a:t>
            </a:r>
            <a:r>
              <a:rPr lang="en-US" sz="3200" dirty="0"/>
              <a:t>onsult with supervisors and other colleagues. </a:t>
            </a:r>
          </a:p>
        </p:txBody>
      </p:sp>
    </p:spTree>
    <p:extLst>
      <p:ext uri="{BB962C8B-B14F-4D97-AF65-F5344CB8AC3E}">
        <p14:creationId xmlns:p14="http://schemas.microsoft.com/office/powerpoint/2010/main" val="3282868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DDCE64-7C35-0E25-B4A0-A05D57D4A341}"/>
              </a:ext>
            </a:extLst>
          </p:cNvPr>
          <p:cNvPicPr>
            <a:picLocks noChangeAspect="1"/>
          </p:cNvPicPr>
          <p:nvPr/>
        </p:nvPicPr>
        <p:blipFill>
          <a:blip r:embed="rId2"/>
          <a:stretch>
            <a:fillRect/>
          </a:stretch>
        </p:blipFill>
        <p:spPr>
          <a:xfrm>
            <a:off x="3234727" y="170197"/>
            <a:ext cx="5848349" cy="6517606"/>
          </a:xfrm>
          <a:prstGeom prst="rect">
            <a:avLst/>
          </a:prstGeom>
        </p:spPr>
      </p:pic>
      <p:sp>
        <p:nvSpPr>
          <p:cNvPr id="5" name="TextBox 4">
            <a:extLst>
              <a:ext uri="{FF2B5EF4-FFF2-40B4-BE49-F238E27FC236}">
                <a16:creationId xmlns:a16="http://schemas.microsoft.com/office/drawing/2014/main" id="{10B9D35A-F91B-FC34-0A41-7A90F9ED9E01}"/>
              </a:ext>
            </a:extLst>
          </p:cNvPr>
          <p:cNvSpPr txBox="1"/>
          <p:nvPr/>
        </p:nvSpPr>
        <p:spPr>
          <a:xfrm>
            <a:off x="187446" y="1734711"/>
            <a:ext cx="2874931" cy="1754326"/>
          </a:xfrm>
          <a:prstGeom prst="rect">
            <a:avLst/>
          </a:prstGeom>
          <a:noFill/>
        </p:spPr>
        <p:txBody>
          <a:bodyPr wrap="square">
            <a:spAutoFit/>
          </a:bodyPr>
          <a:lstStyle/>
          <a:p>
            <a:r>
              <a:rPr lang="en-US" dirty="0">
                <a:solidFill>
                  <a:srgbClr val="FFC000"/>
                </a:solidFill>
              </a:rPr>
              <a:t>By: Karen Allen, Ph.D., LMSW</a:t>
            </a:r>
          </a:p>
          <a:p>
            <a:r>
              <a:rPr lang="en-US" dirty="0">
                <a:solidFill>
                  <a:srgbClr val="FFC000"/>
                </a:solidFill>
              </a:rPr>
              <a:t>What Is an Ethical Dilemma? in The New Social Worker® online magazine</a:t>
            </a:r>
          </a:p>
          <a:p>
            <a:endParaRPr lang="en-US" dirty="0"/>
          </a:p>
        </p:txBody>
      </p:sp>
    </p:spTree>
    <p:extLst>
      <p:ext uri="{BB962C8B-B14F-4D97-AF65-F5344CB8AC3E}">
        <p14:creationId xmlns:p14="http://schemas.microsoft.com/office/powerpoint/2010/main" val="3262757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D39-6CED-C64C-E352-EAD5B864EBFE}"/>
              </a:ext>
            </a:extLst>
          </p:cNvPr>
          <p:cNvSpPr>
            <a:spLocks noGrp="1"/>
          </p:cNvSpPr>
          <p:nvPr>
            <p:ph type="title"/>
          </p:nvPr>
        </p:nvSpPr>
        <p:spPr>
          <a:xfrm>
            <a:off x="685801" y="235789"/>
            <a:ext cx="10131425" cy="831011"/>
          </a:xfrm>
        </p:spPr>
        <p:txBody>
          <a:bodyPr/>
          <a:lstStyle/>
          <a:p>
            <a:r>
              <a:rPr lang="en-US" dirty="0">
                <a:solidFill>
                  <a:srgbClr val="FFC000"/>
                </a:solidFill>
              </a:rPr>
              <a:t>What would you do?</a:t>
            </a:r>
          </a:p>
        </p:txBody>
      </p:sp>
      <p:sp>
        <p:nvSpPr>
          <p:cNvPr id="3" name="Content Placeholder 2">
            <a:extLst>
              <a:ext uri="{FF2B5EF4-FFF2-40B4-BE49-F238E27FC236}">
                <a16:creationId xmlns:a16="http://schemas.microsoft.com/office/drawing/2014/main" id="{1C711989-E99B-FCE0-0B81-03049D7C7B56}"/>
              </a:ext>
            </a:extLst>
          </p:cNvPr>
          <p:cNvSpPr>
            <a:spLocks noGrp="1"/>
          </p:cNvSpPr>
          <p:nvPr>
            <p:ph idx="1"/>
          </p:nvPr>
        </p:nvSpPr>
        <p:spPr>
          <a:xfrm>
            <a:off x="685801" y="1224951"/>
            <a:ext cx="10131425" cy="4865298"/>
          </a:xfrm>
        </p:spPr>
        <p:txBody>
          <a:bodyPr>
            <a:normAutofit fontScale="85000" lnSpcReduction="10000"/>
          </a:bodyPr>
          <a:lstStyle/>
          <a:p>
            <a:endParaRPr lang="en-US" dirty="0"/>
          </a:p>
          <a:p>
            <a:r>
              <a:rPr lang="en-US" b="1" dirty="0"/>
              <a:t>Eye on Ethics</a:t>
            </a:r>
            <a:endParaRPr lang="en-US" dirty="0"/>
          </a:p>
          <a:p>
            <a:r>
              <a:rPr lang="en-US" b="1" dirty="0"/>
              <a:t>Making Difficult Decisions</a:t>
            </a:r>
          </a:p>
          <a:p>
            <a:r>
              <a:rPr lang="en-US" b="1" dirty="0"/>
              <a:t>By Frederic G. Reamer, PhD</a:t>
            </a:r>
          </a:p>
          <a:p>
            <a:r>
              <a:rPr lang="en-US" b="1" i="1" dirty="0"/>
              <a:t>Social Work Today</a:t>
            </a:r>
          </a:p>
          <a:p>
            <a:r>
              <a:rPr lang="en-US" b="1" dirty="0"/>
              <a:t>October 14, 2002</a:t>
            </a:r>
            <a:endParaRPr lang="en-US" dirty="0"/>
          </a:p>
          <a:p>
            <a:r>
              <a:rPr lang="en-US" dirty="0"/>
              <a:t>Recently, I received a phone call from a seasoned social worker seeking consultation. The social worker is employed by a community mental health center where she provides clinical services to people with chronic mental illness. Two days earlier, one of her clients, Alice M., committed suicide. According to the social worker, Alice struggled for many years with depression and cocaine addiction.</a:t>
            </a:r>
          </a:p>
          <a:p>
            <a:r>
              <a:rPr lang="en-US" dirty="0"/>
              <a:t>Immediately following the suicide, Alice’s parents—who had participated in her treatment at various times in the context of family counseling—contacted the social worker to discuss this tragic turn of events. The social worker met with her parents, with whom she had considerable rapport, and they talked about Alice’s lifelong triumphs and challenges. Alice’s parents spoke at length about how much they appreciated the social worker’s earnest efforts to help their daughter. The parents also talked about how difficult it would be for them to bury their daughter the following day.</a:t>
            </a:r>
          </a:p>
          <a:p>
            <a:r>
              <a:rPr lang="en-US" dirty="0"/>
              <a:t>Toward the end of the conversation, Alice’s parents told the social worker that they wanted to ask a special favor. They explained that the social worker was an important person in their family’s life and that it would mean a lot to them if the social worker would deliver a eulogy at their daughter’s funeral.</a:t>
            </a:r>
          </a:p>
        </p:txBody>
      </p:sp>
    </p:spTree>
    <p:extLst>
      <p:ext uri="{BB962C8B-B14F-4D97-AF65-F5344CB8AC3E}">
        <p14:creationId xmlns:p14="http://schemas.microsoft.com/office/powerpoint/2010/main" val="4271761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740229"/>
          </a:xfrm>
        </p:spPr>
        <p:txBody>
          <a:bodyPr/>
          <a:lstStyle/>
          <a:p>
            <a:r>
              <a:rPr lang="en-US" dirty="0">
                <a:solidFill>
                  <a:srgbClr val="FFC000"/>
                </a:solidFill>
              </a:rPr>
              <a:t>Another Quote</a:t>
            </a:r>
          </a:p>
        </p:txBody>
      </p:sp>
      <p:sp>
        <p:nvSpPr>
          <p:cNvPr id="3" name="Content Placeholder 2"/>
          <p:cNvSpPr>
            <a:spLocks noGrp="1"/>
          </p:cNvSpPr>
          <p:nvPr>
            <p:ph idx="1"/>
          </p:nvPr>
        </p:nvSpPr>
        <p:spPr>
          <a:xfrm>
            <a:off x="685801" y="1567543"/>
            <a:ext cx="10131425" cy="3039291"/>
          </a:xfrm>
        </p:spPr>
        <p:txBody>
          <a:bodyPr/>
          <a:lstStyle/>
          <a:p>
            <a:r>
              <a:rPr lang="en-US" dirty="0"/>
              <a:t>“A boundary is the edge of appropriate behavior at a given moment in the relationship between a patient and therapist, as governed by the therapeutic context and contract. It may be defined by the physical, psychological, and/or social space occupied by the patient in the clinical relationship. Where the boundary line actually falls, or is perceived to fall, depends on the type and stage of therapy and may be subject to judgment and interpretation. Therapeutic boundaries are not hard-and-fast. Rather, they are movable and context-dependent, and their placement depends on a number of factors in the clinical situation. Both the flexibility of therapeutic boundaries and the limits of that flexibility can be understood by exploring the nature and significance of boundary crossings, as distinct from boundary violations (Glass, 2003; </a:t>
            </a:r>
            <a:r>
              <a:rPr lang="en-US" dirty="0" err="1"/>
              <a:t>Gutheil</a:t>
            </a:r>
            <a:r>
              <a:rPr lang="en-US" dirty="0"/>
              <a:t> &amp; </a:t>
            </a:r>
            <a:r>
              <a:rPr lang="en-US" dirty="0" err="1"/>
              <a:t>Gabbard</a:t>
            </a:r>
            <a:r>
              <a:rPr lang="en-US" dirty="0"/>
              <a:t>, 1993, 1998).”</a:t>
            </a:r>
          </a:p>
          <a:p>
            <a:endParaRPr lang="en-US" dirty="0"/>
          </a:p>
        </p:txBody>
      </p:sp>
      <p:pic>
        <p:nvPicPr>
          <p:cNvPr id="4" name="Picture 3"/>
          <p:cNvPicPr>
            <a:picLocks noChangeAspect="1"/>
          </p:cNvPicPr>
          <p:nvPr/>
        </p:nvPicPr>
        <p:blipFill>
          <a:blip r:embed="rId2"/>
          <a:stretch>
            <a:fillRect/>
          </a:stretch>
        </p:blipFill>
        <p:spPr>
          <a:xfrm>
            <a:off x="4998720" y="4271952"/>
            <a:ext cx="1593669" cy="2382027"/>
          </a:xfrm>
          <a:prstGeom prst="rect">
            <a:avLst/>
          </a:prstGeom>
        </p:spPr>
      </p:pic>
    </p:spTree>
    <p:extLst>
      <p:ext uri="{BB962C8B-B14F-4D97-AF65-F5344CB8AC3E}">
        <p14:creationId xmlns:p14="http://schemas.microsoft.com/office/powerpoint/2010/main" val="2686457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77" y="361405"/>
            <a:ext cx="10131425" cy="859971"/>
          </a:xfrm>
        </p:spPr>
        <p:txBody>
          <a:bodyPr>
            <a:normAutofit fontScale="90000"/>
          </a:bodyPr>
          <a:lstStyle/>
          <a:p>
            <a:pPr algn="ctr"/>
            <a:r>
              <a:rPr lang="en-US" dirty="0"/>
              <a:t>	</a:t>
            </a:r>
            <a:r>
              <a:rPr lang="en-US" b="1" dirty="0" err="1">
                <a:solidFill>
                  <a:srgbClr val="FFC000"/>
                </a:solidFill>
              </a:rPr>
              <a:t>Nasw</a:t>
            </a:r>
            <a:r>
              <a:rPr lang="en-US" b="1" dirty="0">
                <a:solidFill>
                  <a:srgbClr val="FFC000"/>
                </a:solidFill>
              </a:rPr>
              <a:t> code of ethics, updated 2021,</a:t>
            </a:r>
            <a:br>
              <a:rPr lang="en-US" b="1" dirty="0">
                <a:solidFill>
                  <a:srgbClr val="FFC000"/>
                </a:solidFill>
              </a:rPr>
            </a:br>
            <a:r>
              <a:rPr lang="en-US" b="1" dirty="0">
                <a:solidFill>
                  <a:srgbClr val="FFC000"/>
                </a:solidFill>
              </a:rPr>
              <a:t>serves six purposes</a:t>
            </a:r>
          </a:p>
        </p:txBody>
      </p:sp>
      <p:sp>
        <p:nvSpPr>
          <p:cNvPr id="3" name="Content Placeholder 2"/>
          <p:cNvSpPr>
            <a:spLocks noGrp="1"/>
          </p:cNvSpPr>
          <p:nvPr>
            <p:ph idx="1"/>
          </p:nvPr>
        </p:nvSpPr>
        <p:spPr>
          <a:xfrm>
            <a:off x="966653" y="1391194"/>
            <a:ext cx="10131425" cy="4624251"/>
          </a:xfrm>
        </p:spPr>
        <p:txBody>
          <a:bodyPr>
            <a:normAutofit/>
          </a:bodyPr>
          <a:lstStyle/>
          <a:p>
            <a:pPr marL="0" indent="0">
              <a:buNone/>
            </a:pPr>
            <a:endParaRPr lang="en-US" dirty="0"/>
          </a:p>
          <a:p>
            <a:pPr marL="0" indent="0">
              <a:buNone/>
            </a:pPr>
            <a:r>
              <a:rPr lang="en-US" sz="2800" dirty="0"/>
              <a:t>1. The </a:t>
            </a:r>
            <a:r>
              <a:rPr lang="en-US" sz="2800" i="1" dirty="0">
                <a:solidFill>
                  <a:srgbClr val="FFC000"/>
                </a:solidFill>
              </a:rPr>
              <a:t>Code </a:t>
            </a:r>
            <a:r>
              <a:rPr lang="en-US" sz="2800" dirty="0"/>
              <a:t>identifies core values on which social work’s mission is based.</a:t>
            </a:r>
          </a:p>
          <a:p>
            <a:pPr marL="0" indent="0">
              <a:buNone/>
            </a:pPr>
            <a:r>
              <a:rPr lang="en-US" sz="2800" dirty="0"/>
              <a:t>2. The </a:t>
            </a:r>
            <a:r>
              <a:rPr lang="en-US" sz="2800" i="1" dirty="0">
                <a:solidFill>
                  <a:srgbClr val="FFC000"/>
                </a:solidFill>
              </a:rPr>
              <a:t>Code</a:t>
            </a:r>
            <a:r>
              <a:rPr lang="en-US" sz="2800" dirty="0"/>
              <a:t> summarizes broad ethical principles that reflect the profession’s core values and establishes a set of specific ethical standards that should be used to guide social work practice.</a:t>
            </a:r>
          </a:p>
          <a:p>
            <a:pPr marL="0" indent="0">
              <a:buNone/>
            </a:pPr>
            <a:r>
              <a:rPr lang="en-US" sz="2800" dirty="0"/>
              <a:t>3.  The </a:t>
            </a:r>
            <a:r>
              <a:rPr lang="en-US" sz="2800" i="1" dirty="0">
                <a:solidFill>
                  <a:srgbClr val="FFC000"/>
                </a:solidFill>
              </a:rPr>
              <a:t>Code</a:t>
            </a:r>
            <a:r>
              <a:rPr lang="en-US" sz="2800" dirty="0"/>
              <a:t> is designed to help social worker’s identify relevant considerations when professional obligations conflict or ethical uncertainties arise.</a:t>
            </a:r>
          </a:p>
          <a:p>
            <a:endParaRPr lang="en-US" dirty="0"/>
          </a:p>
        </p:txBody>
      </p:sp>
    </p:spTree>
    <p:extLst>
      <p:ext uri="{BB962C8B-B14F-4D97-AF65-F5344CB8AC3E}">
        <p14:creationId xmlns:p14="http://schemas.microsoft.com/office/powerpoint/2010/main" val="3808987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383" y="348343"/>
            <a:ext cx="10131425" cy="859971"/>
          </a:xfrm>
        </p:spPr>
        <p:txBody>
          <a:bodyPr>
            <a:normAutofit fontScale="90000"/>
          </a:bodyPr>
          <a:lstStyle/>
          <a:p>
            <a:pPr algn="ctr"/>
            <a:r>
              <a:rPr lang="en-US" dirty="0"/>
              <a:t>	</a:t>
            </a:r>
            <a:r>
              <a:rPr lang="en-US" b="1" dirty="0" err="1">
                <a:solidFill>
                  <a:srgbClr val="FFC000"/>
                </a:solidFill>
              </a:rPr>
              <a:t>Nasw</a:t>
            </a:r>
            <a:r>
              <a:rPr lang="en-US" b="1" dirty="0">
                <a:solidFill>
                  <a:srgbClr val="FFC000"/>
                </a:solidFill>
              </a:rPr>
              <a:t> code of ethics, updated 2021,</a:t>
            </a:r>
            <a:br>
              <a:rPr lang="en-US" b="1" dirty="0">
                <a:solidFill>
                  <a:srgbClr val="FFC000"/>
                </a:solidFill>
              </a:rPr>
            </a:br>
            <a:r>
              <a:rPr lang="en-US" b="1" dirty="0">
                <a:solidFill>
                  <a:srgbClr val="FFC000"/>
                </a:solidFill>
              </a:rPr>
              <a:t>serves six purposes (cont.)</a:t>
            </a:r>
          </a:p>
        </p:txBody>
      </p:sp>
      <p:sp>
        <p:nvSpPr>
          <p:cNvPr id="3" name="Content Placeholder 2"/>
          <p:cNvSpPr>
            <a:spLocks noGrp="1"/>
          </p:cNvSpPr>
          <p:nvPr>
            <p:ph idx="1"/>
          </p:nvPr>
        </p:nvSpPr>
        <p:spPr>
          <a:xfrm>
            <a:off x="966653" y="1391194"/>
            <a:ext cx="10131425" cy="4624251"/>
          </a:xfrm>
        </p:spPr>
        <p:txBody>
          <a:bodyPr>
            <a:normAutofit fontScale="92500" lnSpcReduction="10000"/>
          </a:bodyPr>
          <a:lstStyle/>
          <a:p>
            <a:pPr marL="0" indent="0">
              <a:buNone/>
            </a:pPr>
            <a:endParaRPr lang="en-US" dirty="0"/>
          </a:p>
          <a:p>
            <a:pPr marL="0" indent="0">
              <a:buNone/>
            </a:pPr>
            <a:r>
              <a:rPr lang="en-US" sz="2400" dirty="0"/>
              <a:t>4.  The </a:t>
            </a:r>
            <a:r>
              <a:rPr lang="en-US" sz="2400" i="1" dirty="0">
                <a:solidFill>
                  <a:srgbClr val="FFC000"/>
                </a:solidFill>
              </a:rPr>
              <a:t>Code</a:t>
            </a:r>
            <a:r>
              <a:rPr lang="en-US" sz="2400" dirty="0"/>
              <a:t> provides ethical standards to which the general public can hold the social work profession accountable.</a:t>
            </a:r>
          </a:p>
          <a:p>
            <a:pPr marL="0" indent="0">
              <a:buNone/>
            </a:pPr>
            <a:r>
              <a:rPr lang="en-US" sz="2400" dirty="0"/>
              <a:t>5.  The </a:t>
            </a:r>
            <a:r>
              <a:rPr lang="en-US" sz="2400" i="1" dirty="0">
                <a:solidFill>
                  <a:srgbClr val="FFC000"/>
                </a:solidFill>
              </a:rPr>
              <a:t>Code</a:t>
            </a:r>
            <a:r>
              <a:rPr lang="en-US" sz="2400" dirty="0"/>
              <a:t> socializes practitioners new to the field to social work’s mission, values, ethical principles, and ethical standards, and encourages all social workers to engage in self-care, ongoing education, and other activities to ensure their commitment to those same core features of the profession.</a:t>
            </a:r>
          </a:p>
          <a:p>
            <a:pPr marL="0" indent="0">
              <a:buNone/>
            </a:pPr>
            <a:r>
              <a:rPr lang="en-US" sz="2400" dirty="0"/>
              <a:t>6.  The </a:t>
            </a:r>
            <a:r>
              <a:rPr lang="en-US" sz="2400" i="1" dirty="0">
                <a:solidFill>
                  <a:srgbClr val="FFC000"/>
                </a:solidFill>
              </a:rPr>
              <a:t>Code</a:t>
            </a:r>
            <a:r>
              <a:rPr lang="en-US" sz="2400" dirty="0"/>
              <a:t> articulates standards that the social work profession itself can use to assess whether social workers have engaged in unethical conduct.  NASW has formal procedures to adjudicate ethics complaints filed against its members.  In subscribing to this </a:t>
            </a:r>
            <a:r>
              <a:rPr lang="en-US" sz="2400" i="1" dirty="0">
                <a:solidFill>
                  <a:srgbClr val="FFC000"/>
                </a:solidFill>
              </a:rPr>
              <a:t>Code</a:t>
            </a:r>
            <a:r>
              <a:rPr lang="en-US" sz="2400" dirty="0"/>
              <a:t>, social workers are required to cooperate in its implementation, participate in NASW adjudication proceedings, and abide by any NASW disciplinary rulings or sanctions based on it.</a:t>
            </a:r>
          </a:p>
          <a:p>
            <a:endParaRPr lang="en-US" dirty="0"/>
          </a:p>
        </p:txBody>
      </p:sp>
    </p:spTree>
    <p:extLst>
      <p:ext uri="{BB962C8B-B14F-4D97-AF65-F5344CB8AC3E}">
        <p14:creationId xmlns:p14="http://schemas.microsoft.com/office/powerpoint/2010/main" val="392851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3FB2D3-3383-FEE2-96FB-404DB0F95E47}"/>
              </a:ext>
            </a:extLst>
          </p:cNvPr>
          <p:cNvSpPr txBox="1"/>
          <p:nvPr/>
        </p:nvSpPr>
        <p:spPr>
          <a:xfrm>
            <a:off x="238664" y="728846"/>
            <a:ext cx="11714672" cy="5509200"/>
          </a:xfrm>
          <a:prstGeom prst="rect">
            <a:avLst/>
          </a:prstGeom>
          <a:noFill/>
        </p:spPr>
        <p:txBody>
          <a:bodyPr wrap="square">
            <a:spAutoFit/>
          </a:bodyPr>
          <a:lstStyle/>
          <a:p>
            <a:pPr algn="ctr"/>
            <a:r>
              <a:rPr lang="en-US" sz="3200" b="1" dirty="0">
                <a:solidFill>
                  <a:srgbClr val="FFC000"/>
                </a:solidFill>
              </a:rPr>
              <a:t>Preamble</a:t>
            </a:r>
          </a:p>
          <a:p>
            <a:pPr algn="ctr"/>
            <a:endParaRPr lang="en-US" sz="3200" b="1" dirty="0">
              <a:solidFill>
                <a:srgbClr val="FFC000"/>
              </a:solidFill>
            </a:endParaRPr>
          </a:p>
          <a:p>
            <a:r>
              <a:rPr lang="en-US" dirty="0"/>
              <a:t>The primary mission of the social work profession is to enhance human well-being and help meet the basic human needs of all people, with particular attention to the needs and empowerment of people who are vulnerable, oppressed, and living in poverty. A historic and defining feature of social work is the profession’s dual focus on individual well-being in a social context and the well-being of society. Fundamental to social work is attention to the environmental forces that create, contribute to, and address problems in living.</a:t>
            </a:r>
          </a:p>
          <a:p>
            <a:endParaRPr lang="en-US" dirty="0"/>
          </a:p>
          <a:p>
            <a:r>
              <a:rPr lang="en-US" dirty="0"/>
              <a:t>Social workers promote social justice and social change with and on behalf of clients. “Clients” is used inclusively to refer to individuals, families, groups, organizations, and communities. Social workers are sensitive to cultural and ethnic diversity and strive to end discrimination, oppression, poverty, and other forms of social injustice. These activities may be in the form of direct practice, community organizing, supervision, consultation, administration, advocacy, social and political action, policy development and implementation, education, and research and evaluation. Social workers seek to enhance the capacity of people to address their own needs. Social workers also seek to promote the responsiveness of organizations, communities, and other social institutions to individuals’ needs and social problems.</a:t>
            </a:r>
          </a:p>
          <a:p>
            <a:endParaRPr lang="en-US" dirty="0"/>
          </a:p>
          <a:p>
            <a:r>
              <a:rPr lang="en-US" dirty="0"/>
              <a:t>The mission of the social work profession is rooted in a set of core values. These core values, embraced by social workers throughout the profession’s history, are the foundation of social work’s unique purpose and perspective:</a:t>
            </a:r>
          </a:p>
        </p:txBody>
      </p:sp>
    </p:spTree>
    <p:extLst>
      <p:ext uri="{BB962C8B-B14F-4D97-AF65-F5344CB8AC3E}">
        <p14:creationId xmlns:p14="http://schemas.microsoft.com/office/powerpoint/2010/main" val="3325996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30777"/>
            <a:ext cx="10131425" cy="703217"/>
          </a:xfrm>
        </p:spPr>
        <p:txBody>
          <a:bodyPr/>
          <a:lstStyle/>
          <a:p>
            <a:pPr algn="ctr"/>
            <a:r>
              <a:rPr lang="en-US" b="1" dirty="0" err="1">
                <a:solidFill>
                  <a:srgbClr val="FFC000"/>
                </a:solidFill>
              </a:rPr>
              <a:t>Nasw</a:t>
            </a:r>
            <a:r>
              <a:rPr lang="en-US" b="1" dirty="0">
                <a:solidFill>
                  <a:srgbClr val="FFC000"/>
                </a:solidFill>
              </a:rPr>
              <a:t> core values and ethical principles</a:t>
            </a:r>
          </a:p>
        </p:txBody>
      </p:sp>
      <p:sp>
        <p:nvSpPr>
          <p:cNvPr id="3" name="Content Placeholder 2"/>
          <p:cNvSpPr>
            <a:spLocks noGrp="1"/>
          </p:cNvSpPr>
          <p:nvPr>
            <p:ph idx="1"/>
          </p:nvPr>
        </p:nvSpPr>
        <p:spPr>
          <a:xfrm>
            <a:off x="685801" y="1182189"/>
            <a:ext cx="10131425" cy="4609011"/>
          </a:xfrm>
        </p:spPr>
        <p:txBody>
          <a:bodyPr>
            <a:normAutofit/>
          </a:bodyPr>
          <a:lstStyle/>
          <a:p>
            <a:pPr marL="342900" indent="-342900">
              <a:buAutoNum type="arabicPeriod"/>
            </a:pPr>
            <a:r>
              <a:rPr lang="en-US" sz="2400" dirty="0"/>
              <a:t>Value: </a:t>
            </a:r>
            <a:r>
              <a:rPr lang="en-US" sz="2400" dirty="0">
                <a:solidFill>
                  <a:srgbClr val="FFC000"/>
                </a:solidFill>
              </a:rPr>
              <a:t>Service</a:t>
            </a:r>
          </a:p>
          <a:p>
            <a:pPr marL="0" indent="0">
              <a:buNone/>
            </a:pPr>
            <a:r>
              <a:rPr lang="en-US" sz="2400" dirty="0"/>
              <a:t>	</a:t>
            </a:r>
            <a:r>
              <a:rPr lang="en-US" sz="2400" dirty="0">
                <a:solidFill>
                  <a:srgbClr val="FFC000"/>
                </a:solidFill>
              </a:rPr>
              <a:t>Ethical Principle: </a:t>
            </a:r>
            <a:r>
              <a:rPr lang="en-US" sz="2400" dirty="0"/>
              <a:t>Social workers’ primary goal is to help people in need </a:t>
            </a:r>
            <a:r>
              <a:rPr lang="en-US" sz="2400"/>
              <a:t>and 	to </a:t>
            </a:r>
            <a:r>
              <a:rPr lang="en-US" sz="2400" dirty="0"/>
              <a:t>address social problems.</a:t>
            </a:r>
          </a:p>
          <a:p>
            <a:pPr marL="342900" indent="-342900">
              <a:buAutoNum type="arabicPeriod" startAt="2"/>
            </a:pPr>
            <a:r>
              <a:rPr lang="en-US" sz="2400" dirty="0"/>
              <a:t>Value: </a:t>
            </a:r>
            <a:r>
              <a:rPr lang="en-US" sz="2400" dirty="0">
                <a:solidFill>
                  <a:srgbClr val="FFC000"/>
                </a:solidFill>
              </a:rPr>
              <a:t>Social Justice</a:t>
            </a:r>
          </a:p>
          <a:p>
            <a:pPr marL="457200" lvl="1" indent="0">
              <a:buNone/>
            </a:pPr>
            <a:r>
              <a:rPr lang="en-US" sz="2400" dirty="0">
                <a:solidFill>
                  <a:srgbClr val="FFC000"/>
                </a:solidFill>
              </a:rPr>
              <a:t>Ethical Principle: </a:t>
            </a:r>
            <a:r>
              <a:rPr lang="en-US" sz="2400" dirty="0"/>
              <a:t>Social workers challenge social injustice.</a:t>
            </a:r>
          </a:p>
          <a:p>
            <a:pPr marL="342900" indent="-342900">
              <a:buAutoNum type="arabicPeriod" startAt="3"/>
            </a:pPr>
            <a:r>
              <a:rPr lang="en-US" sz="2400" dirty="0"/>
              <a:t>Value: </a:t>
            </a:r>
            <a:r>
              <a:rPr lang="en-US" sz="2400" dirty="0">
                <a:solidFill>
                  <a:srgbClr val="FFC000"/>
                </a:solidFill>
              </a:rPr>
              <a:t>Dignity and Worth of the Person</a:t>
            </a:r>
          </a:p>
          <a:p>
            <a:pPr marL="457200" lvl="1" indent="0">
              <a:buNone/>
            </a:pPr>
            <a:r>
              <a:rPr lang="en-US" sz="2400" dirty="0">
                <a:solidFill>
                  <a:srgbClr val="FFC000"/>
                </a:solidFill>
              </a:rPr>
              <a:t>Ethical Principle: </a:t>
            </a:r>
            <a:r>
              <a:rPr lang="en-US" sz="2400" dirty="0"/>
              <a:t>Social workers respect the inherent dignity and worth of the person.</a:t>
            </a:r>
          </a:p>
        </p:txBody>
      </p:sp>
    </p:spTree>
    <p:extLst>
      <p:ext uri="{BB962C8B-B14F-4D97-AF65-F5344CB8AC3E}">
        <p14:creationId xmlns:p14="http://schemas.microsoft.com/office/powerpoint/2010/main" val="4061139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30777"/>
            <a:ext cx="10131425" cy="703217"/>
          </a:xfrm>
        </p:spPr>
        <p:txBody>
          <a:bodyPr>
            <a:normAutofit/>
          </a:bodyPr>
          <a:lstStyle/>
          <a:p>
            <a:pPr algn="ctr"/>
            <a:r>
              <a:rPr lang="en-US" b="1" dirty="0" err="1">
                <a:solidFill>
                  <a:srgbClr val="FFC000"/>
                </a:solidFill>
              </a:rPr>
              <a:t>Nasw</a:t>
            </a:r>
            <a:r>
              <a:rPr lang="en-US" b="1" dirty="0">
                <a:solidFill>
                  <a:srgbClr val="FFC000"/>
                </a:solidFill>
              </a:rPr>
              <a:t> core values and ethical principles (CONT.)</a:t>
            </a:r>
          </a:p>
        </p:txBody>
      </p:sp>
      <p:sp>
        <p:nvSpPr>
          <p:cNvPr id="3" name="Content Placeholder 2"/>
          <p:cNvSpPr>
            <a:spLocks noGrp="1"/>
          </p:cNvSpPr>
          <p:nvPr>
            <p:ph idx="1"/>
          </p:nvPr>
        </p:nvSpPr>
        <p:spPr>
          <a:xfrm>
            <a:off x="685801" y="1182189"/>
            <a:ext cx="10131425" cy="4609011"/>
          </a:xfrm>
        </p:spPr>
        <p:txBody>
          <a:bodyPr>
            <a:normAutofit/>
          </a:bodyPr>
          <a:lstStyle/>
          <a:p>
            <a:pPr marL="342900" indent="-342900">
              <a:buAutoNum type="arabicPeriod" startAt="4"/>
            </a:pPr>
            <a:r>
              <a:rPr lang="en-US" sz="2400" dirty="0"/>
              <a:t>Value: </a:t>
            </a:r>
            <a:r>
              <a:rPr lang="en-US" sz="2400" dirty="0">
                <a:solidFill>
                  <a:srgbClr val="FFC000"/>
                </a:solidFill>
              </a:rPr>
              <a:t>Importance of Human Relationships</a:t>
            </a:r>
          </a:p>
          <a:p>
            <a:pPr marL="457200" lvl="1" indent="0">
              <a:buNone/>
            </a:pPr>
            <a:r>
              <a:rPr lang="en-US" sz="2400" dirty="0">
                <a:solidFill>
                  <a:srgbClr val="FFC000"/>
                </a:solidFill>
              </a:rPr>
              <a:t>Ethical Principle: </a:t>
            </a:r>
            <a:r>
              <a:rPr lang="en-US" sz="2400" dirty="0"/>
              <a:t>Social workers recognize the central importance of human relationships.</a:t>
            </a:r>
          </a:p>
          <a:p>
            <a:pPr marL="342900" indent="-342900">
              <a:buAutoNum type="arabicPeriod" startAt="5"/>
            </a:pPr>
            <a:r>
              <a:rPr lang="en-US" sz="2400" dirty="0"/>
              <a:t>Value: </a:t>
            </a:r>
            <a:r>
              <a:rPr lang="en-US" sz="2400" dirty="0">
                <a:solidFill>
                  <a:srgbClr val="FFC000"/>
                </a:solidFill>
              </a:rPr>
              <a:t>Integrity</a:t>
            </a:r>
          </a:p>
          <a:p>
            <a:pPr marL="457200" lvl="1" indent="0">
              <a:buNone/>
            </a:pPr>
            <a:r>
              <a:rPr lang="en-US" sz="2400" dirty="0">
                <a:solidFill>
                  <a:srgbClr val="FFC000"/>
                </a:solidFill>
              </a:rPr>
              <a:t>Ethical Principle: </a:t>
            </a:r>
            <a:r>
              <a:rPr lang="en-US" sz="2400" dirty="0"/>
              <a:t>Social workers behave in a trustworthy manner.</a:t>
            </a:r>
          </a:p>
          <a:p>
            <a:pPr marL="342900" indent="-342900">
              <a:buAutoNum type="arabicPeriod" startAt="6"/>
            </a:pPr>
            <a:r>
              <a:rPr lang="en-US" sz="2400" dirty="0"/>
              <a:t>Value: </a:t>
            </a:r>
            <a:r>
              <a:rPr lang="en-US" sz="2400" dirty="0">
                <a:solidFill>
                  <a:srgbClr val="FFC000"/>
                </a:solidFill>
              </a:rPr>
              <a:t>Competence</a:t>
            </a:r>
          </a:p>
          <a:p>
            <a:pPr marL="457200" lvl="1" indent="0">
              <a:buNone/>
            </a:pPr>
            <a:r>
              <a:rPr lang="en-US" sz="2400" dirty="0">
                <a:solidFill>
                  <a:srgbClr val="FFC000"/>
                </a:solidFill>
              </a:rPr>
              <a:t>Ethical Principle: </a:t>
            </a:r>
            <a:r>
              <a:rPr lang="en-US" sz="2400" dirty="0"/>
              <a:t>Social workers practice within their areas of competence and develop and enhance their professional expertise.	</a:t>
            </a:r>
          </a:p>
        </p:txBody>
      </p:sp>
    </p:spTree>
    <p:extLst>
      <p:ext uri="{BB962C8B-B14F-4D97-AF65-F5344CB8AC3E}">
        <p14:creationId xmlns:p14="http://schemas.microsoft.com/office/powerpoint/2010/main" val="3333606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1" y="97537"/>
            <a:ext cx="10131425" cy="1008888"/>
          </a:xfrm>
        </p:spPr>
        <p:txBody>
          <a:bodyPr/>
          <a:lstStyle/>
          <a:p>
            <a:pPr algn="ctr"/>
            <a:r>
              <a:rPr lang="en-US" b="1" dirty="0" err="1">
                <a:solidFill>
                  <a:srgbClr val="FFC000"/>
                </a:solidFill>
              </a:rPr>
              <a:t>Nasw</a:t>
            </a:r>
            <a:r>
              <a:rPr lang="en-US" b="1" dirty="0">
                <a:solidFill>
                  <a:srgbClr val="FFC000"/>
                </a:solidFill>
              </a:rPr>
              <a:t> ethical standards</a:t>
            </a:r>
          </a:p>
        </p:txBody>
      </p:sp>
      <p:sp>
        <p:nvSpPr>
          <p:cNvPr id="3" name="Content Placeholder 2"/>
          <p:cNvSpPr>
            <a:spLocks noGrp="1"/>
          </p:cNvSpPr>
          <p:nvPr>
            <p:ph idx="1"/>
          </p:nvPr>
        </p:nvSpPr>
        <p:spPr>
          <a:xfrm>
            <a:off x="1655064" y="1718395"/>
            <a:ext cx="9802368" cy="3649133"/>
          </a:xfrm>
        </p:spPr>
        <p:txBody>
          <a:bodyPr>
            <a:normAutofit/>
          </a:bodyPr>
          <a:lstStyle/>
          <a:p>
            <a:pPr marL="342900" indent="-342900">
              <a:buAutoNum type="arabicPeriod"/>
            </a:pPr>
            <a:r>
              <a:rPr lang="en-US" sz="2400" dirty="0"/>
              <a:t>Social Workers’ ethical responsibilities to </a:t>
            </a:r>
            <a:r>
              <a:rPr lang="en-US" sz="2400" dirty="0">
                <a:solidFill>
                  <a:srgbClr val="FFC000"/>
                </a:solidFill>
              </a:rPr>
              <a:t>clients.</a:t>
            </a:r>
          </a:p>
          <a:p>
            <a:pPr marL="342900" indent="-342900">
              <a:buAutoNum type="arabicPeriod"/>
            </a:pPr>
            <a:r>
              <a:rPr lang="en-US" sz="2400" dirty="0"/>
              <a:t>Social Workers’ ethical responsibilities to </a:t>
            </a:r>
            <a:r>
              <a:rPr lang="en-US" sz="2400" dirty="0">
                <a:solidFill>
                  <a:srgbClr val="FFC000"/>
                </a:solidFill>
              </a:rPr>
              <a:t>colleagues.</a:t>
            </a:r>
          </a:p>
          <a:p>
            <a:pPr marL="342900" indent="-342900">
              <a:buAutoNum type="arabicPeriod"/>
            </a:pPr>
            <a:r>
              <a:rPr lang="en-US" sz="2400" dirty="0"/>
              <a:t>Social Workers’ ethical responsibilities in </a:t>
            </a:r>
            <a:r>
              <a:rPr lang="en-US" sz="2400" dirty="0">
                <a:solidFill>
                  <a:srgbClr val="FFC000"/>
                </a:solidFill>
              </a:rPr>
              <a:t>practice settings.</a:t>
            </a:r>
          </a:p>
          <a:p>
            <a:pPr marL="342900" indent="-342900">
              <a:buAutoNum type="arabicPeriod"/>
            </a:pPr>
            <a:r>
              <a:rPr lang="en-US" sz="2400" dirty="0"/>
              <a:t>Social Workers’ ethical responsibilities as </a:t>
            </a:r>
            <a:r>
              <a:rPr lang="en-US" sz="2400" dirty="0">
                <a:solidFill>
                  <a:srgbClr val="FFC000"/>
                </a:solidFill>
              </a:rPr>
              <a:t>professionals.</a:t>
            </a:r>
          </a:p>
          <a:p>
            <a:pPr marL="342900" indent="-342900">
              <a:buAutoNum type="arabicPeriod"/>
            </a:pPr>
            <a:r>
              <a:rPr lang="en-US" sz="2400" dirty="0"/>
              <a:t>Social Workers’ ethical responsibilities to the </a:t>
            </a:r>
            <a:r>
              <a:rPr lang="en-US" sz="2400" dirty="0">
                <a:solidFill>
                  <a:srgbClr val="FFC000"/>
                </a:solidFill>
              </a:rPr>
              <a:t>social work profession.</a:t>
            </a:r>
          </a:p>
          <a:p>
            <a:pPr marL="342900" indent="-342900">
              <a:buAutoNum type="arabicPeriod"/>
            </a:pPr>
            <a:r>
              <a:rPr lang="en-US" sz="2400" dirty="0"/>
              <a:t>Social Workers’ ethical responsibilities to the </a:t>
            </a:r>
            <a:r>
              <a:rPr lang="en-US" sz="2400" dirty="0">
                <a:solidFill>
                  <a:srgbClr val="FFC000"/>
                </a:solidFill>
              </a:rPr>
              <a:t>broader society.</a:t>
            </a:r>
          </a:p>
          <a:p>
            <a:pPr marL="342900" indent="-342900">
              <a:buAutoNum type="arabicPeriod"/>
            </a:pPr>
            <a:endParaRPr lang="en-US" dirty="0"/>
          </a:p>
        </p:txBody>
      </p:sp>
    </p:spTree>
    <p:extLst>
      <p:ext uri="{BB962C8B-B14F-4D97-AF65-F5344CB8AC3E}">
        <p14:creationId xmlns:p14="http://schemas.microsoft.com/office/powerpoint/2010/main" val="3740827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8705"/>
            <a:ext cx="10131425" cy="908304"/>
          </a:xfrm>
        </p:spPr>
        <p:txBody>
          <a:bodyPr/>
          <a:lstStyle/>
          <a:p>
            <a:pPr algn="ctr"/>
            <a:r>
              <a:rPr lang="en-US" b="1" dirty="0">
                <a:solidFill>
                  <a:srgbClr val="FFC000"/>
                </a:solidFill>
              </a:rPr>
              <a:t>Ethical Responsibilities to Clients</a:t>
            </a:r>
          </a:p>
        </p:txBody>
      </p:sp>
      <p:sp>
        <p:nvSpPr>
          <p:cNvPr id="3" name="Content Placeholder 2"/>
          <p:cNvSpPr>
            <a:spLocks noGrp="1"/>
          </p:cNvSpPr>
          <p:nvPr>
            <p:ph sz="half" idx="1"/>
          </p:nvPr>
        </p:nvSpPr>
        <p:spPr>
          <a:xfrm>
            <a:off x="2029806" y="1207009"/>
            <a:ext cx="3721707" cy="4368655"/>
          </a:xfrm>
        </p:spPr>
        <p:txBody>
          <a:bodyPr>
            <a:normAutofit fontScale="77500" lnSpcReduction="20000"/>
          </a:bodyPr>
          <a:lstStyle/>
          <a:p>
            <a:pPr marL="342900" indent="-342900">
              <a:buAutoNum type="arabicPeriod"/>
            </a:pPr>
            <a:r>
              <a:rPr lang="en-US" sz="3100" dirty="0"/>
              <a:t>Commitment to clients</a:t>
            </a:r>
          </a:p>
          <a:p>
            <a:pPr marL="342900" indent="-342900">
              <a:buAutoNum type="arabicPeriod"/>
            </a:pPr>
            <a:r>
              <a:rPr lang="en-US" sz="3100" dirty="0"/>
              <a:t>Self-determination</a:t>
            </a:r>
          </a:p>
          <a:p>
            <a:pPr marL="342900" indent="-342900">
              <a:buAutoNum type="arabicPeriod"/>
            </a:pPr>
            <a:r>
              <a:rPr lang="en-US" sz="3100" dirty="0"/>
              <a:t>Informed consent</a:t>
            </a:r>
          </a:p>
          <a:p>
            <a:pPr marL="342900" indent="-342900">
              <a:buAutoNum type="arabicPeriod"/>
            </a:pPr>
            <a:r>
              <a:rPr lang="en-US" sz="3100" dirty="0"/>
              <a:t>Competence</a:t>
            </a:r>
          </a:p>
          <a:p>
            <a:pPr marL="342900" indent="-342900">
              <a:buAutoNum type="arabicPeriod"/>
            </a:pPr>
            <a:r>
              <a:rPr lang="en-US" sz="3100" dirty="0"/>
              <a:t>Cultural competence</a:t>
            </a:r>
          </a:p>
          <a:p>
            <a:pPr marL="342900" indent="-342900">
              <a:buAutoNum type="arabicPeriod"/>
            </a:pPr>
            <a:r>
              <a:rPr lang="en-US" sz="3100" dirty="0"/>
              <a:t>Conflicts of interest</a:t>
            </a:r>
          </a:p>
          <a:p>
            <a:pPr marL="342900" indent="-342900">
              <a:buAutoNum type="arabicPeriod"/>
            </a:pPr>
            <a:r>
              <a:rPr lang="en-US" sz="3100" dirty="0"/>
              <a:t>Privacy and confidentiality</a:t>
            </a:r>
          </a:p>
          <a:p>
            <a:pPr marL="342900" indent="-342900">
              <a:buAutoNum type="arabicPeriod"/>
            </a:pPr>
            <a:r>
              <a:rPr lang="en-US" sz="3100" dirty="0"/>
              <a:t>Access to records</a:t>
            </a:r>
          </a:p>
          <a:p>
            <a:endParaRPr lang="en-US" dirty="0"/>
          </a:p>
        </p:txBody>
      </p:sp>
      <p:sp>
        <p:nvSpPr>
          <p:cNvPr id="4" name="Content Placeholder 3"/>
          <p:cNvSpPr>
            <a:spLocks noGrp="1"/>
          </p:cNvSpPr>
          <p:nvPr>
            <p:ph sz="half" idx="2"/>
          </p:nvPr>
        </p:nvSpPr>
        <p:spPr>
          <a:xfrm>
            <a:off x="6285626" y="1362457"/>
            <a:ext cx="4995332" cy="4352544"/>
          </a:xfrm>
        </p:spPr>
        <p:txBody>
          <a:bodyPr>
            <a:normAutofit fontScale="77500" lnSpcReduction="20000"/>
          </a:bodyPr>
          <a:lstStyle/>
          <a:p>
            <a:pPr marL="0" indent="0">
              <a:buNone/>
            </a:pPr>
            <a:r>
              <a:rPr lang="en-US" sz="3100" dirty="0">
                <a:latin typeface="Times New Roman" panose="02020603050405020304" pitchFamily="18" charset="0"/>
                <a:cs typeface="Times New Roman" panose="02020603050405020304" pitchFamily="18" charset="0"/>
              </a:rPr>
              <a:t>9.  </a:t>
            </a:r>
            <a:r>
              <a:rPr lang="en-US" sz="3100" dirty="0"/>
              <a:t>Sexual relationships</a:t>
            </a:r>
          </a:p>
          <a:p>
            <a:pPr marL="0" indent="0">
              <a:buNone/>
            </a:pPr>
            <a:r>
              <a:rPr lang="en-US" sz="3100" dirty="0"/>
              <a:t>10. Physical contact</a:t>
            </a:r>
          </a:p>
          <a:p>
            <a:pPr marL="0" indent="0">
              <a:buNone/>
            </a:pPr>
            <a:r>
              <a:rPr lang="en-US" sz="3100" dirty="0"/>
              <a:t>11. Sexual harassment</a:t>
            </a:r>
          </a:p>
          <a:p>
            <a:pPr marL="0" indent="0">
              <a:buNone/>
            </a:pPr>
            <a:r>
              <a:rPr lang="en-US" sz="3100" dirty="0"/>
              <a:t>12. Derogatory language</a:t>
            </a:r>
          </a:p>
          <a:p>
            <a:pPr marL="0" indent="0">
              <a:buNone/>
            </a:pPr>
            <a:r>
              <a:rPr lang="en-US" sz="3100" dirty="0"/>
              <a:t>13. Payment for services</a:t>
            </a:r>
          </a:p>
          <a:p>
            <a:pPr marL="0" indent="0">
              <a:buNone/>
            </a:pPr>
            <a:r>
              <a:rPr lang="en-US" sz="3100" dirty="0"/>
              <a:t>14. Clients who lack decision-making capacity</a:t>
            </a:r>
          </a:p>
          <a:p>
            <a:pPr marL="0" indent="0">
              <a:buNone/>
            </a:pPr>
            <a:r>
              <a:rPr lang="en-US" sz="3100" dirty="0"/>
              <a:t>15. Interruption of services</a:t>
            </a:r>
          </a:p>
          <a:p>
            <a:pPr marL="0" indent="0">
              <a:buNone/>
            </a:pPr>
            <a:r>
              <a:rPr lang="en-US" sz="3100" dirty="0"/>
              <a:t>16. Referral for services</a:t>
            </a:r>
          </a:p>
          <a:p>
            <a:pPr marL="0" indent="0">
              <a:buNone/>
            </a:pPr>
            <a:r>
              <a:rPr lang="en-US" sz="3100" dirty="0"/>
              <a:t>17. Termination of services</a:t>
            </a:r>
          </a:p>
          <a:p>
            <a:endParaRPr lang="en-US" dirty="0"/>
          </a:p>
        </p:txBody>
      </p:sp>
    </p:spTree>
    <p:extLst>
      <p:ext uri="{BB962C8B-B14F-4D97-AF65-F5344CB8AC3E}">
        <p14:creationId xmlns:p14="http://schemas.microsoft.com/office/powerpoint/2010/main" val="3012894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844296"/>
          </a:xfrm>
        </p:spPr>
        <p:txBody>
          <a:bodyPr/>
          <a:lstStyle/>
          <a:p>
            <a:pPr algn="ctr"/>
            <a:r>
              <a:rPr lang="en-US" b="1" dirty="0">
                <a:solidFill>
                  <a:srgbClr val="FFC000"/>
                </a:solidFill>
              </a:rPr>
              <a:t>Ethical responsibilities to colleagues</a:t>
            </a:r>
          </a:p>
        </p:txBody>
      </p:sp>
      <p:sp>
        <p:nvSpPr>
          <p:cNvPr id="3" name="Content Placeholder 2"/>
          <p:cNvSpPr>
            <a:spLocks noGrp="1"/>
          </p:cNvSpPr>
          <p:nvPr>
            <p:ph sz="half" idx="1"/>
          </p:nvPr>
        </p:nvSpPr>
        <p:spPr>
          <a:xfrm>
            <a:off x="1801206" y="1828801"/>
            <a:ext cx="3950307" cy="4261104"/>
          </a:xfrm>
        </p:spPr>
        <p:txBody>
          <a:bodyPr/>
          <a:lstStyle/>
          <a:p>
            <a:pPr marL="342900" indent="-342900">
              <a:buAutoNum type="arabicPeriod"/>
            </a:pPr>
            <a:r>
              <a:rPr lang="en-US" sz="2800" dirty="0"/>
              <a:t>Respect</a:t>
            </a:r>
          </a:p>
          <a:p>
            <a:pPr marL="342900" indent="-342900">
              <a:buAutoNum type="arabicPeriod"/>
            </a:pPr>
            <a:r>
              <a:rPr lang="en-US" sz="2800" dirty="0"/>
              <a:t>Confidentiality</a:t>
            </a:r>
          </a:p>
          <a:p>
            <a:pPr marL="342900" indent="-342900">
              <a:buAutoNum type="arabicPeriod"/>
            </a:pPr>
            <a:r>
              <a:rPr lang="en-US" sz="2800" dirty="0"/>
              <a:t>Interdisciplinary Collaboration</a:t>
            </a:r>
          </a:p>
          <a:p>
            <a:pPr marL="342900" indent="-342900">
              <a:buAutoNum type="arabicPeriod"/>
            </a:pPr>
            <a:r>
              <a:rPr lang="en-US" sz="2800" dirty="0"/>
              <a:t>Disputes Involving Colleagues</a:t>
            </a:r>
          </a:p>
          <a:p>
            <a:pPr marL="342900" indent="-342900">
              <a:buAutoNum type="arabicPeriod"/>
            </a:pPr>
            <a:r>
              <a:rPr lang="en-US" sz="2800" dirty="0"/>
              <a:t>Consultation</a:t>
            </a:r>
          </a:p>
          <a:p>
            <a:pPr marL="342900" indent="-342900">
              <a:buAutoNum type="arabicPeriod"/>
            </a:pPr>
            <a:endParaRPr lang="en-US" dirty="0"/>
          </a:p>
          <a:p>
            <a:endParaRPr lang="en-US" dirty="0"/>
          </a:p>
        </p:txBody>
      </p:sp>
      <p:sp>
        <p:nvSpPr>
          <p:cNvPr id="4" name="Content Placeholder 3"/>
          <p:cNvSpPr>
            <a:spLocks noGrp="1"/>
          </p:cNvSpPr>
          <p:nvPr>
            <p:ph sz="half" idx="2"/>
          </p:nvPr>
        </p:nvSpPr>
        <p:spPr>
          <a:xfrm>
            <a:off x="6142805" y="1453897"/>
            <a:ext cx="4995332" cy="4097817"/>
          </a:xfrm>
        </p:spPr>
        <p:txBody>
          <a:bodyPr/>
          <a:lstStyle/>
          <a:p>
            <a:pPr marL="0" indent="0">
              <a:buNone/>
            </a:pPr>
            <a:r>
              <a:rPr lang="en-US" sz="2800" dirty="0"/>
              <a:t>6. Sexual Relationships</a:t>
            </a:r>
          </a:p>
          <a:p>
            <a:pPr marL="0" indent="0">
              <a:buNone/>
            </a:pPr>
            <a:r>
              <a:rPr lang="en-US" sz="2800" dirty="0"/>
              <a:t>7. Sexual Harassment</a:t>
            </a:r>
          </a:p>
          <a:p>
            <a:pPr marL="0" indent="0">
              <a:buNone/>
            </a:pPr>
            <a:r>
              <a:rPr lang="en-US" sz="2800" dirty="0"/>
              <a:t>8. Impairment of Colleagues</a:t>
            </a:r>
          </a:p>
          <a:p>
            <a:pPr marL="0" indent="0">
              <a:buNone/>
            </a:pPr>
            <a:r>
              <a:rPr lang="en-US" sz="2800" dirty="0"/>
              <a:t>9. Incompetence of Colleagues</a:t>
            </a:r>
          </a:p>
          <a:p>
            <a:pPr marL="0" indent="0">
              <a:buNone/>
            </a:pPr>
            <a:r>
              <a:rPr lang="en-US" sz="2800" dirty="0"/>
              <a:t>10. Unethical Conduct of Colleagues</a:t>
            </a:r>
          </a:p>
          <a:p>
            <a:pPr marL="0" indent="0">
              <a:buNone/>
            </a:pPr>
            <a:endParaRPr lang="en-US" dirty="0"/>
          </a:p>
        </p:txBody>
      </p:sp>
    </p:spTree>
    <p:extLst>
      <p:ext uri="{BB962C8B-B14F-4D97-AF65-F5344CB8AC3E}">
        <p14:creationId xmlns:p14="http://schemas.microsoft.com/office/powerpoint/2010/main" val="1199008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045029"/>
          </a:xfrm>
        </p:spPr>
        <p:txBody>
          <a:bodyPr/>
          <a:lstStyle/>
          <a:p>
            <a:pPr algn="ctr"/>
            <a:r>
              <a:rPr lang="en-US" dirty="0"/>
              <a:t> </a:t>
            </a:r>
            <a:r>
              <a:rPr lang="en-US" b="1" dirty="0">
                <a:solidFill>
                  <a:srgbClr val="FFC000"/>
                </a:solidFill>
              </a:rPr>
              <a:t>Ethical responsibilities in practice settings</a:t>
            </a:r>
          </a:p>
        </p:txBody>
      </p:sp>
      <p:sp>
        <p:nvSpPr>
          <p:cNvPr id="3" name="Content Placeholder 2"/>
          <p:cNvSpPr>
            <a:spLocks noGrp="1"/>
          </p:cNvSpPr>
          <p:nvPr>
            <p:ph sz="half" idx="1"/>
          </p:nvPr>
        </p:nvSpPr>
        <p:spPr>
          <a:xfrm>
            <a:off x="1404256" y="2142067"/>
            <a:ext cx="4276879" cy="3649134"/>
          </a:xfrm>
        </p:spPr>
        <p:txBody>
          <a:bodyPr>
            <a:normAutofit/>
          </a:bodyPr>
          <a:lstStyle/>
          <a:p>
            <a:pPr marL="342900" indent="-342900">
              <a:buAutoNum type="arabicPeriod"/>
            </a:pPr>
            <a:r>
              <a:rPr lang="en-US" sz="2800" dirty="0"/>
              <a:t>Supervision and Consultation</a:t>
            </a:r>
          </a:p>
          <a:p>
            <a:pPr marL="342900" indent="-342900">
              <a:buAutoNum type="arabicPeriod"/>
            </a:pPr>
            <a:r>
              <a:rPr lang="en-US" sz="2800" dirty="0"/>
              <a:t>Education and Training</a:t>
            </a:r>
          </a:p>
          <a:p>
            <a:pPr marL="342900" indent="-342900">
              <a:buAutoNum type="arabicPeriod"/>
            </a:pPr>
            <a:r>
              <a:rPr lang="en-US" sz="2800" dirty="0"/>
              <a:t>Performance Evaluation</a:t>
            </a:r>
          </a:p>
          <a:p>
            <a:pPr marL="342900" indent="-342900">
              <a:buAutoNum type="arabicPeriod"/>
            </a:pPr>
            <a:r>
              <a:rPr lang="en-US" sz="2800" dirty="0"/>
              <a:t>Client Records</a:t>
            </a:r>
          </a:p>
          <a:p>
            <a:pPr marL="342900" indent="-342900">
              <a:buAutoNum type="arabicPeriod"/>
            </a:pPr>
            <a:r>
              <a:rPr lang="en-US" sz="2800" dirty="0"/>
              <a:t>Billing</a:t>
            </a:r>
          </a:p>
        </p:txBody>
      </p:sp>
      <p:sp>
        <p:nvSpPr>
          <p:cNvPr id="4" name="Content Placeholder 3"/>
          <p:cNvSpPr>
            <a:spLocks noGrp="1"/>
          </p:cNvSpPr>
          <p:nvPr>
            <p:ph sz="half" idx="2"/>
          </p:nvPr>
        </p:nvSpPr>
        <p:spPr/>
        <p:txBody>
          <a:bodyPr/>
          <a:lstStyle/>
          <a:p>
            <a:pPr marL="0" indent="0">
              <a:buNone/>
            </a:pPr>
            <a:r>
              <a:rPr lang="en-US" sz="2800" dirty="0"/>
              <a:t>6. Client Transfer</a:t>
            </a:r>
          </a:p>
          <a:p>
            <a:pPr marL="0" indent="0">
              <a:buNone/>
            </a:pPr>
            <a:r>
              <a:rPr lang="en-US" sz="2800" dirty="0"/>
              <a:t>7. Administration</a:t>
            </a:r>
          </a:p>
          <a:p>
            <a:pPr marL="0" indent="0">
              <a:buNone/>
            </a:pPr>
            <a:r>
              <a:rPr lang="en-US" sz="2800" dirty="0"/>
              <a:t>8. Continuing Education and Staff Development</a:t>
            </a:r>
          </a:p>
          <a:p>
            <a:pPr marL="0" indent="0">
              <a:buNone/>
            </a:pPr>
            <a:r>
              <a:rPr lang="en-US" sz="2800" dirty="0"/>
              <a:t>9. Commitments to Employers</a:t>
            </a:r>
          </a:p>
          <a:p>
            <a:pPr marL="0" indent="0">
              <a:buNone/>
            </a:pPr>
            <a:r>
              <a:rPr lang="en-US" sz="2800" dirty="0"/>
              <a:t>10.Labor-Management Disputes</a:t>
            </a:r>
          </a:p>
        </p:txBody>
      </p:sp>
    </p:spTree>
    <p:extLst>
      <p:ext uri="{BB962C8B-B14F-4D97-AF65-F5344CB8AC3E}">
        <p14:creationId xmlns:p14="http://schemas.microsoft.com/office/powerpoint/2010/main" val="3227906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C000"/>
                </a:solidFill>
              </a:rPr>
              <a:t>Ethical responsibilities as professionals</a:t>
            </a:r>
          </a:p>
        </p:txBody>
      </p:sp>
      <p:sp>
        <p:nvSpPr>
          <p:cNvPr id="3" name="Content Placeholder 2"/>
          <p:cNvSpPr>
            <a:spLocks noGrp="1"/>
          </p:cNvSpPr>
          <p:nvPr>
            <p:ph sz="half" idx="1"/>
          </p:nvPr>
        </p:nvSpPr>
        <p:spPr>
          <a:xfrm>
            <a:off x="1985554" y="2142067"/>
            <a:ext cx="3695582" cy="2815287"/>
          </a:xfrm>
        </p:spPr>
        <p:txBody>
          <a:bodyPr>
            <a:normAutofit/>
          </a:bodyPr>
          <a:lstStyle/>
          <a:p>
            <a:pPr marL="342900" indent="-342900">
              <a:buAutoNum type="arabicPeriod"/>
            </a:pPr>
            <a:r>
              <a:rPr lang="en-US" sz="2800" dirty="0"/>
              <a:t>Competence</a:t>
            </a:r>
          </a:p>
          <a:p>
            <a:pPr marL="342900" indent="-342900">
              <a:buAutoNum type="arabicPeriod"/>
            </a:pPr>
            <a:r>
              <a:rPr lang="en-US" sz="2800" dirty="0"/>
              <a:t>Discrimination</a:t>
            </a:r>
          </a:p>
          <a:p>
            <a:pPr marL="342900" indent="-342900">
              <a:buAutoNum type="arabicPeriod"/>
            </a:pPr>
            <a:r>
              <a:rPr lang="en-US" sz="2800" dirty="0"/>
              <a:t>Private Conduct</a:t>
            </a:r>
          </a:p>
          <a:p>
            <a:pPr marL="342900" indent="-342900">
              <a:buAutoNum type="arabicPeriod"/>
            </a:pPr>
            <a:r>
              <a:rPr lang="en-US" sz="2800" dirty="0"/>
              <a:t>Dishonesty, Fraud, and Deception</a:t>
            </a:r>
          </a:p>
        </p:txBody>
      </p:sp>
      <p:sp>
        <p:nvSpPr>
          <p:cNvPr id="4" name="Content Placeholder 3"/>
          <p:cNvSpPr>
            <a:spLocks noGrp="1"/>
          </p:cNvSpPr>
          <p:nvPr>
            <p:ph sz="half" idx="2"/>
          </p:nvPr>
        </p:nvSpPr>
        <p:spPr>
          <a:xfrm>
            <a:off x="6263639" y="2142068"/>
            <a:ext cx="4553587" cy="2756504"/>
          </a:xfrm>
        </p:spPr>
        <p:txBody>
          <a:bodyPr/>
          <a:lstStyle/>
          <a:p>
            <a:pPr marL="0" indent="0">
              <a:buNone/>
            </a:pPr>
            <a:r>
              <a:rPr lang="en-US" sz="2800" dirty="0"/>
              <a:t>5. Impairment</a:t>
            </a:r>
          </a:p>
          <a:p>
            <a:pPr marL="0" indent="0">
              <a:buNone/>
            </a:pPr>
            <a:r>
              <a:rPr lang="en-US" sz="2800" dirty="0"/>
              <a:t>6. Misrepresentation</a:t>
            </a:r>
          </a:p>
          <a:p>
            <a:pPr marL="0" indent="0">
              <a:buNone/>
            </a:pPr>
            <a:r>
              <a:rPr lang="en-US" sz="2800" dirty="0"/>
              <a:t>7. Solicitations</a:t>
            </a:r>
          </a:p>
          <a:p>
            <a:pPr marL="0" indent="0">
              <a:buNone/>
            </a:pPr>
            <a:r>
              <a:rPr lang="en-US" sz="2800" dirty="0"/>
              <a:t>8. Acknowledging Credit</a:t>
            </a:r>
          </a:p>
        </p:txBody>
      </p:sp>
    </p:spTree>
    <p:extLst>
      <p:ext uri="{BB962C8B-B14F-4D97-AF65-F5344CB8AC3E}">
        <p14:creationId xmlns:p14="http://schemas.microsoft.com/office/powerpoint/2010/main" val="3207212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186543"/>
          </a:xfrm>
        </p:spPr>
        <p:txBody>
          <a:bodyPr>
            <a:noAutofit/>
          </a:bodyPr>
          <a:lstStyle/>
          <a:p>
            <a:pPr algn="ctr"/>
            <a:r>
              <a:rPr lang="en-US" sz="4000" b="1" dirty="0">
                <a:solidFill>
                  <a:srgbClr val="FFC000"/>
                </a:solidFill>
              </a:rPr>
              <a:t>Ethical responsibilities to the social work profession</a:t>
            </a:r>
          </a:p>
        </p:txBody>
      </p:sp>
      <p:sp>
        <p:nvSpPr>
          <p:cNvPr id="3" name="Content Placeholder 2"/>
          <p:cNvSpPr>
            <a:spLocks noGrp="1"/>
          </p:cNvSpPr>
          <p:nvPr>
            <p:ph idx="1"/>
          </p:nvPr>
        </p:nvSpPr>
        <p:spPr>
          <a:xfrm>
            <a:off x="2796758" y="2142067"/>
            <a:ext cx="6950620" cy="2475653"/>
          </a:xfrm>
        </p:spPr>
        <p:txBody>
          <a:bodyPr>
            <a:normAutofit/>
          </a:bodyPr>
          <a:lstStyle/>
          <a:p>
            <a:pPr marL="342900" indent="-342900">
              <a:buAutoNum type="arabicPeriod"/>
            </a:pPr>
            <a:r>
              <a:rPr lang="en-US" sz="3600" dirty="0"/>
              <a:t>Integrity of the Profession</a:t>
            </a:r>
          </a:p>
          <a:p>
            <a:pPr marL="342900" indent="-342900">
              <a:buAutoNum type="arabicPeriod"/>
            </a:pPr>
            <a:r>
              <a:rPr lang="en-US" sz="3600" dirty="0"/>
              <a:t>Evaluation and Research</a:t>
            </a:r>
          </a:p>
        </p:txBody>
      </p:sp>
    </p:spTree>
    <p:extLst>
      <p:ext uri="{BB962C8B-B14F-4D97-AF65-F5344CB8AC3E}">
        <p14:creationId xmlns:p14="http://schemas.microsoft.com/office/powerpoint/2010/main" val="43860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b="1" dirty="0">
                <a:solidFill>
                  <a:srgbClr val="FFC000"/>
                </a:solidFill>
              </a:rPr>
              <a:t>Ethical responsibilities to the broader society</a:t>
            </a:r>
          </a:p>
        </p:txBody>
      </p:sp>
      <p:sp>
        <p:nvSpPr>
          <p:cNvPr id="3" name="Content Placeholder 2"/>
          <p:cNvSpPr>
            <a:spLocks noGrp="1"/>
          </p:cNvSpPr>
          <p:nvPr>
            <p:ph idx="1"/>
          </p:nvPr>
        </p:nvSpPr>
        <p:spPr>
          <a:xfrm>
            <a:off x="2782389" y="2065867"/>
            <a:ext cx="6571797" cy="3649133"/>
          </a:xfrm>
        </p:spPr>
        <p:txBody>
          <a:bodyPr>
            <a:normAutofit/>
          </a:bodyPr>
          <a:lstStyle/>
          <a:p>
            <a:pPr marL="0" indent="0">
              <a:buNone/>
            </a:pPr>
            <a:r>
              <a:rPr lang="en-US" sz="4000" dirty="0"/>
              <a:t>1. Social Welfare</a:t>
            </a:r>
          </a:p>
          <a:p>
            <a:pPr marL="0" indent="0">
              <a:buNone/>
            </a:pPr>
            <a:r>
              <a:rPr lang="en-US" sz="4000" dirty="0"/>
              <a:t>2. Public Participation</a:t>
            </a:r>
          </a:p>
          <a:p>
            <a:pPr marL="0" indent="0">
              <a:buNone/>
            </a:pPr>
            <a:r>
              <a:rPr lang="en-US" sz="4000" dirty="0"/>
              <a:t>3. Public Emergencies</a:t>
            </a:r>
          </a:p>
          <a:p>
            <a:pPr marL="0" indent="0">
              <a:buNone/>
            </a:pPr>
            <a:r>
              <a:rPr lang="en-US" sz="4000" dirty="0"/>
              <a:t>4. Social and Political Action</a:t>
            </a:r>
          </a:p>
          <a:p>
            <a:endParaRPr lang="en-US" sz="2000" dirty="0"/>
          </a:p>
        </p:txBody>
      </p:sp>
    </p:spTree>
    <p:extLst>
      <p:ext uri="{BB962C8B-B14F-4D97-AF65-F5344CB8AC3E}">
        <p14:creationId xmlns:p14="http://schemas.microsoft.com/office/powerpoint/2010/main" val="2504009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C000"/>
                </a:solidFill>
              </a:rPr>
              <a:t>Video – John Rawls and the Veil of ignorance</a:t>
            </a:r>
          </a:p>
        </p:txBody>
      </p:sp>
      <p:sp>
        <p:nvSpPr>
          <p:cNvPr id="3" name="Content Placeholder 2"/>
          <p:cNvSpPr>
            <a:spLocks noGrp="1"/>
          </p:cNvSpPr>
          <p:nvPr>
            <p:ph idx="1"/>
          </p:nvPr>
        </p:nvSpPr>
        <p:spPr/>
        <p:txBody>
          <a:bodyPr/>
          <a:lstStyle/>
          <a:p>
            <a:r>
              <a:rPr lang="en-US" sz="2800" dirty="0"/>
              <a:t>Who? Political philosopher – how to create a fair and just society.</a:t>
            </a:r>
          </a:p>
          <a:p>
            <a:pPr marL="0" indent="0">
              <a:buNone/>
            </a:pPr>
            <a:endParaRPr lang="en-US" sz="2800" dirty="0"/>
          </a:p>
          <a:p>
            <a:pPr lvl="1"/>
            <a:r>
              <a:rPr lang="en-US" sz="2600" dirty="0">
                <a:hlinkClick r:id="rId2"/>
              </a:rPr>
              <a:t>https://www.youtube.com/watch?v=GuY79IKLO5U</a:t>
            </a:r>
            <a:endParaRPr lang="en-US" sz="2600" dirty="0"/>
          </a:p>
          <a:p>
            <a:endParaRPr lang="en-US" dirty="0"/>
          </a:p>
        </p:txBody>
      </p:sp>
    </p:spTree>
    <p:extLst>
      <p:ext uri="{BB962C8B-B14F-4D97-AF65-F5344CB8AC3E}">
        <p14:creationId xmlns:p14="http://schemas.microsoft.com/office/powerpoint/2010/main" val="1205501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2028421"/>
            <a:ext cx="10131427" cy="1468800"/>
          </a:xfrm>
        </p:spPr>
        <p:txBody>
          <a:bodyPr/>
          <a:lstStyle/>
          <a:p>
            <a:pPr algn="ctr"/>
            <a:r>
              <a:rPr lang="en-US" dirty="0">
                <a:solidFill>
                  <a:srgbClr val="FFC000"/>
                </a:solidFill>
              </a:rPr>
              <a:t>Technology and social work practice</a:t>
            </a:r>
          </a:p>
        </p:txBody>
      </p:sp>
    </p:spTree>
    <p:extLst>
      <p:ext uri="{BB962C8B-B14F-4D97-AF65-F5344CB8AC3E}">
        <p14:creationId xmlns:p14="http://schemas.microsoft.com/office/powerpoint/2010/main" val="1755398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2548"/>
            <a:ext cx="10131425" cy="1158241"/>
          </a:xfrm>
        </p:spPr>
        <p:txBody>
          <a:bodyPr>
            <a:normAutofit fontScale="90000"/>
          </a:bodyPr>
          <a:lstStyle/>
          <a:p>
            <a:r>
              <a:rPr lang="en-US" dirty="0">
                <a:solidFill>
                  <a:srgbClr val="FFC000"/>
                </a:solidFill>
              </a:rPr>
              <a:t>NASW Standards for technology in social work practice (2017)</a:t>
            </a:r>
          </a:p>
        </p:txBody>
      </p:sp>
      <p:sp>
        <p:nvSpPr>
          <p:cNvPr id="3" name="Content Placeholder 2"/>
          <p:cNvSpPr>
            <a:spLocks noGrp="1"/>
          </p:cNvSpPr>
          <p:nvPr>
            <p:ph idx="1"/>
          </p:nvPr>
        </p:nvSpPr>
        <p:spPr>
          <a:xfrm>
            <a:off x="685800" y="1645678"/>
            <a:ext cx="10131425" cy="3649133"/>
          </a:xfrm>
        </p:spPr>
        <p:txBody>
          <a:bodyPr/>
          <a:lstStyle/>
          <a:p>
            <a:r>
              <a:rPr lang="en-US" dirty="0"/>
              <a:t>“NASW partnered with ASWB, CSWE, and CSWA to develop a uniform set of technology standards for professional social workers to use as a guide in their practice.” (from Foreword, page 6)</a:t>
            </a:r>
          </a:p>
          <a:p>
            <a:pPr marL="0" indent="0">
              <a:buNone/>
            </a:pPr>
            <a:endParaRPr lang="en-US" dirty="0"/>
          </a:p>
          <a:p>
            <a:r>
              <a:rPr lang="en-US" dirty="0"/>
              <a:t>“Social workers’ use of technology is proliferating. Technology has transformed the nature of social work practice and greatly expanded social workers’ ability to assist people in need.  Contemporary social workers can provide services to individual clients by using online counseling, telephone counseling, videoconferencing, self-guided Web-based interventions, electronic social networks, mobile apps, automated tutorials, email, text messages, and a host of other services. Social workers’ use of technology has created new ways to interact and communicate with clients, raising fundamentally new questions about the meaning of the social worker-client relationship.” (from Introduction, page 7)</a:t>
            </a:r>
          </a:p>
        </p:txBody>
      </p:sp>
      <p:sp>
        <p:nvSpPr>
          <p:cNvPr id="4" name="TextBox 3"/>
          <p:cNvSpPr txBox="1"/>
          <p:nvPr/>
        </p:nvSpPr>
        <p:spPr>
          <a:xfrm>
            <a:off x="0" y="5939246"/>
            <a:ext cx="12223731" cy="369332"/>
          </a:xfrm>
          <a:prstGeom prst="rect">
            <a:avLst/>
          </a:prstGeom>
          <a:noFill/>
        </p:spPr>
        <p:txBody>
          <a:bodyPr wrap="none" rtlCol="0">
            <a:spAutoFit/>
          </a:bodyPr>
          <a:lstStyle/>
          <a:p>
            <a:r>
              <a:rPr lang="en-US" dirty="0">
                <a:hlinkClick r:id="rId2"/>
              </a:rPr>
              <a:t>https://www.socialworkers.org/Practice/NASW-Practice-Standards-Guidelines/Standards-for-Technology-in-Social-Work-Practice</a:t>
            </a:r>
            <a:r>
              <a:rPr lang="en-US" dirty="0"/>
              <a:t> </a:t>
            </a:r>
          </a:p>
        </p:txBody>
      </p:sp>
    </p:spTree>
    <p:extLst>
      <p:ext uri="{BB962C8B-B14F-4D97-AF65-F5344CB8AC3E}">
        <p14:creationId xmlns:p14="http://schemas.microsoft.com/office/powerpoint/2010/main" val="3067525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7424" y="348344"/>
            <a:ext cx="10131425" cy="940526"/>
          </a:xfrm>
        </p:spPr>
        <p:txBody>
          <a:bodyPr/>
          <a:lstStyle/>
          <a:p>
            <a:r>
              <a:rPr lang="en-US" dirty="0">
                <a:solidFill>
                  <a:srgbClr val="FFC000"/>
                </a:solidFill>
              </a:rPr>
              <a:t>Standards divided into four main sections</a:t>
            </a:r>
          </a:p>
        </p:txBody>
      </p:sp>
      <p:sp>
        <p:nvSpPr>
          <p:cNvPr id="3" name="Content Placeholder 2"/>
          <p:cNvSpPr>
            <a:spLocks noGrp="1"/>
          </p:cNvSpPr>
          <p:nvPr>
            <p:ph idx="1"/>
          </p:nvPr>
        </p:nvSpPr>
        <p:spPr>
          <a:xfrm>
            <a:off x="703219" y="1393130"/>
            <a:ext cx="10131425" cy="3649133"/>
          </a:xfrm>
        </p:spPr>
        <p:txBody>
          <a:bodyPr>
            <a:normAutofit/>
          </a:bodyPr>
          <a:lstStyle/>
          <a:p>
            <a:pPr marL="0" indent="0">
              <a:buNone/>
            </a:pPr>
            <a:r>
              <a:rPr lang="en-US" sz="2400" dirty="0"/>
              <a:t>Social workers’ use of technology to –</a:t>
            </a:r>
          </a:p>
          <a:p>
            <a:pPr marL="800100" lvl="1" indent="-342900">
              <a:buAutoNum type="arabicPeriod"/>
            </a:pPr>
            <a:r>
              <a:rPr lang="en-US" sz="2200" dirty="0"/>
              <a:t>Provide information to the public</a:t>
            </a:r>
          </a:p>
          <a:p>
            <a:pPr marL="800100" lvl="1" indent="-342900">
              <a:buAutoNum type="arabicPeriod"/>
            </a:pPr>
            <a:r>
              <a:rPr lang="en-US" sz="2200" dirty="0"/>
              <a:t>Design and deliver services</a:t>
            </a:r>
          </a:p>
          <a:p>
            <a:pPr marL="800100" lvl="1" indent="-342900">
              <a:buAutoNum type="arabicPeriod"/>
            </a:pPr>
            <a:r>
              <a:rPr lang="en-US" sz="2200" dirty="0"/>
              <a:t>Gather, manage, store, and access information about clients</a:t>
            </a:r>
          </a:p>
          <a:p>
            <a:pPr marL="800100" lvl="1" indent="-342900">
              <a:buAutoNum type="arabicPeriod"/>
            </a:pPr>
            <a:r>
              <a:rPr lang="en-US" sz="2200" dirty="0"/>
              <a:t>Educate and supervise social workers </a:t>
            </a:r>
          </a:p>
        </p:txBody>
      </p:sp>
      <p:sp>
        <p:nvSpPr>
          <p:cNvPr id="4" name="TextBox 3"/>
          <p:cNvSpPr txBox="1"/>
          <p:nvPr/>
        </p:nvSpPr>
        <p:spPr>
          <a:xfrm>
            <a:off x="87086" y="6148252"/>
            <a:ext cx="12223731" cy="369332"/>
          </a:xfrm>
          <a:prstGeom prst="rect">
            <a:avLst/>
          </a:prstGeom>
          <a:noFill/>
        </p:spPr>
        <p:txBody>
          <a:bodyPr wrap="none" rtlCol="0">
            <a:spAutoFit/>
          </a:bodyPr>
          <a:lstStyle/>
          <a:p>
            <a:r>
              <a:rPr lang="en-US" dirty="0">
                <a:hlinkClick r:id="rId2"/>
              </a:rPr>
              <a:t>https://www.socialworkers.org/Practice/NASW-Practice-Standards-Guidelines/Standards-for-Technology-in-Social-Work-Practice</a:t>
            </a:r>
            <a:r>
              <a:rPr lang="en-US" dirty="0"/>
              <a:t> </a:t>
            </a:r>
          </a:p>
        </p:txBody>
      </p:sp>
    </p:spTree>
    <p:extLst>
      <p:ext uri="{BB962C8B-B14F-4D97-AF65-F5344CB8AC3E}">
        <p14:creationId xmlns:p14="http://schemas.microsoft.com/office/powerpoint/2010/main" val="373407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F1002B-432A-AC6E-2742-8F83206D00F0}"/>
              </a:ext>
            </a:extLst>
          </p:cNvPr>
          <p:cNvPicPr>
            <a:picLocks noChangeAspect="1"/>
          </p:cNvPicPr>
          <p:nvPr/>
        </p:nvPicPr>
        <p:blipFill>
          <a:blip r:embed="rId2"/>
          <a:stretch>
            <a:fillRect/>
          </a:stretch>
        </p:blipFill>
        <p:spPr>
          <a:xfrm>
            <a:off x="1930914" y="301292"/>
            <a:ext cx="7950609" cy="5893103"/>
          </a:xfrm>
          <a:prstGeom prst="rect">
            <a:avLst/>
          </a:prstGeom>
        </p:spPr>
      </p:pic>
      <p:sp>
        <p:nvSpPr>
          <p:cNvPr id="5" name="TextBox 4">
            <a:extLst>
              <a:ext uri="{FF2B5EF4-FFF2-40B4-BE49-F238E27FC236}">
                <a16:creationId xmlns:a16="http://schemas.microsoft.com/office/drawing/2014/main" id="{50830EC2-91EE-46D2-58B1-A0D0ABC85C82}"/>
              </a:ext>
            </a:extLst>
          </p:cNvPr>
          <p:cNvSpPr txBox="1"/>
          <p:nvPr/>
        </p:nvSpPr>
        <p:spPr>
          <a:xfrm>
            <a:off x="3410309" y="6280832"/>
            <a:ext cx="6096000" cy="369332"/>
          </a:xfrm>
          <a:prstGeom prst="rect">
            <a:avLst/>
          </a:prstGeom>
          <a:noFill/>
        </p:spPr>
        <p:txBody>
          <a:bodyPr wrap="square">
            <a:spAutoFit/>
          </a:bodyPr>
          <a:lstStyle/>
          <a:p>
            <a:r>
              <a:rPr lang="en-US" dirty="0">
                <a:hlinkClick r:id="rId3"/>
              </a:rPr>
              <a:t>https://www.youtube.com/watch?v=iuASVYZLigo</a:t>
            </a:r>
            <a:r>
              <a:rPr lang="en-US" dirty="0"/>
              <a:t> </a:t>
            </a:r>
          </a:p>
        </p:txBody>
      </p:sp>
    </p:spTree>
    <p:extLst>
      <p:ext uri="{BB962C8B-B14F-4D97-AF65-F5344CB8AC3E}">
        <p14:creationId xmlns:p14="http://schemas.microsoft.com/office/powerpoint/2010/main" val="3562804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E6C9A-A044-D6E2-A19B-460178DBCC71}"/>
              </a:ext>
            </a:extLst>
          </p:cNvPr>
          <p:cNvSpPr>
            <a:spLocks noGrp="1"/>
          </p:cNvSpPr>
          <p:nvPr>
            <p:ph type="title"/>
          </p:nvPr>
        </p:nvSpPr>
        <p:spPr>
          <a:xfrm>
            <a:off x="780691" y="2031872"/>
            <a:ext cx="10131427" cy="1468800"/>
          </a:xfrm>
        </p:spPr>
        <p:txBody>
          <a:bodyPr/>
          <a:lstStyle/>
          <a:p>
            <a:pPr algn="ctr"/>
            <a:r>
              <a:rPr lang="en-US" dirty="0">
                <a:solidFill>
                  <a:srgbClr val="FFC000"/>
                </a:solidFill>
              </a:rPr>
              <a:t>Picot practice</a:t>
            </a:r>
          </a:p>
        </p:txBody>
      </p:sp>
    </p:spTree>
    <p:extLst>
      <p:ext uri="{BB962C8B-B14F-4D97-AF65-F5344CB8AC3E}">
        <p14:creationId xmlns:p14="http://schemas.microsoft.com/office/powerpoint/2010/main" val="969778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C000"/>
                </a:solidFill>
              </a:rPr>
              <a:t>PICOT Application using case study</a:t>
            </a:r>
          </a:p>
        </p:txBody>
      </p:sp>
      <p:sp>
        <p:nvSpPr>
          <p:cNvPr id="3" name="Content Placeholder 2"/>
          <p:cNvSpPr>
            <a:spLocks noGrp="1"/>
          </p:cNvSpPr>
          <p:nvPr>
            <p:ph idx="1"/>
          </p:nvPr>
        </p:nvSpPr>
        <p:spPr>
          <a:xfrm>
            <a:off x="461554" y="2142067"/>
            <a:ext cx="11469189" cy="3649133"/>
          </a:xfrm>
        </p:spPr>
        <p:txBody>
          <a:bodyPr/>
          <a:lstStyle/>
          <a:p>
            <a:pPr marL="0" indent="0">
              <a:buNone/>
            </a:pPr>
            <a:r>
              <a:rPr lang="en-US" sz="2400" b="1" dirty="0">
                <a:solidFill>
                  <a:srgbClr val="FFC000"/>
                </a:solidFill>
              </a:rPr>
              <a:t>In-class activity</a:t>
            </a:r>
          </a:p>
          <a:p>
            <a:pPr marL="0" indent="0">
              <a:buNone/>
            </a:pPr>
            <a:r>
              <a:rPr lang="en-US" sz="2400" dirty="0"/>
              <a:t>	        Read the case study on the next slide and complete the following:</a:t>
            </a:r>
          </a:p>
          <a:p>
            <a:pPr marL="0" indent="0">
              <a:buNone/>
            </a:pPr>
            <a:r>
              <a:rPr lang="en-US" sz="2400" dirty="0"/>
              <a:t>		1. Apply the PICOT Framework (use the acronym)?</a:t>
            </a:r>
          </a:p>
          <a:p>
            <a:pPr marL="0" indent="0">
              <a:buNone/>
            </a:pPr>
            <a:r>
              <a:rPr lang="en-US" sz="2400" dirty="0"/>
              <a:t>		2. What is your clinical question and concern (using the PICOT Framework)?</a:t>
            </a:r>
          </a:p>
          <a:p>
            <a:pPr marL="0" indent="0">
              <a:buNone/>
            </a:pPr>
            <a:r>
              <a:rPr lang="en-US" sz="2400" dirty="0"/>
              <a:t>		3.  What keywords would you use for your literature search?</a:t>
            </a:r>
          </a:p>
          <a:p>
            <a:pPr marL="0" indent="0">
              <a:buNone/>
            </a:pPr>
            <a:r>
              <a:rPr lang="en-US" sz="2400" dirty="0"/>
              <a:t>		4.  Identify the ethical issues in your case study.</a:t>
            </a:r>
          </a:p>
          <a:p>
            <a:pPr marL="0" indent="0">
              <a:buNone/>
            </a:pPr>
            <a:endParaRPr lang="en-US" dirty="0"/>
          </a:p>
        </p:txBody>
      </p:sp>
    </p:spTree>
    <p:extLst>
      <p:ext uri="{BB962C8B-B14F-4D97-AF65-F5344CB8AC3E}">
        <p14:creationId xmlns:p14="http://schemas.microsoft.com/office/powerpoint/2010/main" val="3687987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5296" y="1106424"/>
            <a:ext cx="9966959" cy="3725956"/>
          </a:xfrm>
          <a:prstGeom prst="rect">
            <a:avLst/>
          </a:prstGeom>
        </p:spPr>
        <p:txBody>
          <a:bodyPr wrap="square">
            <a:spAutoFit/>
          </a:bodyPr>
          <a:lstStyle/>
          <a:p>
            <a:pPr>
              <a:lnSpc>
                <a:spcPct val="107000"/>
              </a:lnSpc>
              <a:spcBef>
                <a:spcPts val="2100"/>
              </a:spcBef>
              <a:spcAft>
                <a:spcPts val="600"/>
              </a:spcAft>
            </a:pPr>
            <a:endParaRPr lang="en-US" sz="16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258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Danny is a 32-year-old Army veteran who comes to you reporting that he has been having unusual experiences, such as hearing the pigeons that live around his building talk to him. Additionally, he has been increasingly concerned that he is being monitored by government agencies. In response, he has begun to avoid technology that he believes can be used to track him, such as cellular phones or laptops. He reports that he first began to hear things that those around him appeared not to notice and to become concerned about being watched by the government about a year ago. As a result, he has been unable to maintain a job during this time and reports that he is arguing more with his girlfriend. When he presents in your office, you notice that he does not demonstrate much emotion and that his facial expressions and tone of voice do not change much throughout your interview.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p:cNvSpPr txBox="1"/>
          <p:nvPr/>
        </p:nvSpPr>
        <p:spPr>
          <a:xfrm>
            <a:off x="3009900" y="323850"/>
            <a:ext cx="5643083" cy="523220"/>
          </a:xfrm>
          <a:prstGeom prst="rect">
            <a:avLst/>
          </a:prstGeom>
          <a:noFill/>
        </p:spPr>
        <p:txBody>
          <a:bodyPr wrap="none" rtlCol="0">
            <a:spAutoFit/>
          </a:bodyPr>
          <a:lstStyle/>
          <a:p>
            <a:r>
              <a:rPr lang="en-US" sz="2800" b="1" cap="all" spc="-40" dirty="0">
                <a:solidFill>
                  <a:srgbClr val="FFC000"/>
                </a:solidFill>
                <a:latin typeface="Arial" panose="020B0604020202020204" pitchFamily="34" charset="0"/>
                <a:ea typeface="Times New Roman" panose="02020603050405020304" pitchFamily="18" charset="0"/>
                <a:cs typeface="Times New Roman" panose="02020603050405020304" pitchFamily="18" charset="0"/>
              </a:rPr>
              <a:t>CASE STUDY DETAILS – Danny</a:t>
            </a:r>
            <a:endParaRPr lang="en-US" sz="2800" b="1" dirty="0">
              <a:solidFill>
                <a:srgbClr val="FFC000"/>
              </a:solidFill>
            </a:endParaRPr>
          </a:p>
        </p:txBody>
      </p:sp>
    </p:spTree>
    <p:extLst>
      <p:ext uri="{BB962C8B-B14F-4D97-AF65-F5344CB8AC3E}">
        <p14:creationId xmlns:p14="http://schemas.microsoft.com/office/powerpoint/2010/main" val="215578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endParaRPr lang="en-US" sz="2400" dirty="0"/>
          </a:p>
          <a:p>
            <a:endParaRPr lang="en-US" sz="2400" dirty="0"/>
          </a:p>
          <a:p>
            <a:endParaRPr lang="en-US" sz="2400" dirty="0"/>
          </a:p>
        </p:txBody>
      </p:sp>
      <p:sp>
        <p:nvSpPr>
          <p:cNvPr id="4" name="Title 3"/>
          <p:cNvSpPr>
            <a:spLocks noGrp="1"/>
          </p:cNvSpPr>
          <p:nvPr>
            <p:ph type="title"/>
          </p:nvPr>
        </p:nvSpPr>
        <p:spPr>
          <a:xfrm>
            <a:off x="685801" y="204652"/>
            <a:ext cx="10131425" cy="868416"/>
          </a:xfrm>
        </p:spPr>
        <p:txBody>
          <a:bodyPr/>
          <a:lstStyle/>
          <a:p>
            <a:r>
              <a:rPr lang="en-US" dirty="0">
                <a:solidFill>
                  <a:srgbClr val="FFC000"/>
                </a:solidFill>
              </a:rPr>
              <a:t>NEXT WEEK</a:t>
            </a:r>
          </a:p>
        </p:txBody>
      </p:sp>
      <p:graphicFrame>
        <p:nvGraphicFramePr>
          <p:cNvPr id="5" name="Table 4"/>
          <p:cNvGraphicFramePr>
            <a:graphicFrameLocks noGrp="1"/>
          </p:cNvGraphicFramePr>
          <p:nvPr>
            <p:extLst>
              <p:ext uri="{D42A27DB-BD31-4B8C-83A1-F6EECF244321}">
                <p14:modId xmlns:p14="http://schemas.microsoft.com/office/powerpoint/2010/main" val="2235703148"/>
              </p:ext>
            </p:extLst>
          </p:nvPr>
        </p:nvGraphicFramePr>
        <p:xfrm>
          <a:off x="849087" y="1397726"/>
          <a:ext cx="10398032" cy="4859383"/>
        </p:xfrm>
        <a:graphic>
          <a:graphicData uri="http://schemas.openxmlformats.org/drawingml/2006/table">
            <a:tbl>
              <a:tblPr>
                <a:tableStyleId>{5C22544A-7EE6-4342-B048-85BDC9FD1C3A}</a:tableStyleId>
              </a:tblPr>
              <a:tblGrid>
                <a:gridCol w="3827416">
                  <a:extLst>
                    <a:ext uri="{9D8B030D-6E8A-4147-A177-3AD203B41FA5}">
                      <a16:colId xmlns:a16="http://schemas.microsoft.com/office/drawing/2014/main" val="1717692675"/>
                    </a:ext>
                  </a:extLst>
                </a:gridCol>
                <a:gridCol w="3762103">
                  <a:extLst>
                    <a:ext uri="{9D8B030D-6E8A-4147-A177-3AD203B41FA5}">
                      <a16:colId xmlns:a16="http://schemas.microsoft.com/office/drawing/2014/main" val="2348683038"/>
                    </a:ext>
                  </a:extLst>
                </a:gridCol>
                <a:gridCol w="2808513">
                  <a:extLst>
                    <a:ext uri="{9D8B030D-6E8A-4147-A177-3AD203B41FA5}">
                      <a16:colId xmlns:a16="http://schemas.microsoft.com/office/drawing/2014/main" val="611114251"/>
                    </a:ext>
                  </a:extLst>
                </a:gridCol>
              </a:tblGrid>
              <a:tr h="4859383">
                <a:tc>
                  <a:txBody>
                    <a:bodyPr/>
                    <a:lstStyle/>
                    <a:p>
                      <a:pPr marL="0" marR="0">
                        <a:spcBef>
                          <a:spcPts val="0"/>
                        </a:spcBef>
                        <a:spcAft>
                          <a:spcPts val="1000"/>
                        </a:spcAft>
                      </a:pPr>
                      <a:r>
                        <a:rPr lang="en-US" sz="1800" b="1" dirty="0">
                          <a:effectLst/>
                        </a:rPr>
                        <a:t>Week 3</a:t>
                      </a:r>
                      <a:r>
                        <a:rPr lang="en-US" sz="1800" b="1" baseline="0" dirty="0">
                          <a:effectLst/>
                        </a:rPr>
                        <a:t> </a:t>
                      </a:r>
                      <a:r>
                        <a:rPr lang="en-US" sz="1800" b="1" dirty="0">
                          <a:effectLst/>
                        </a:rPr>
                        <a:t> </a:t>
                      </a:r>
                    </a:p>
                    <a:p>
                      <a:pPr marL="0" marR="0">
                        <a:spcBef>
                          <a:spcPts val="0"/>
                        </a:spcBef>
                        <a:spcAft>
                          <a:spcPts val="1000"/>
                        </a:spcAft>
                      </a:pPr>
                      <a:r>
                        <a:rPr lang="en-US" sz="1800" b="1" dirty="0">
                          <a:effectLst/>
                        </a:rPr>
                        <a:t>TOPIC:</a:t>
                      </a:r>
                    </a:p>
                    <a:p>
                      <a:pPr marL="0" marR="0">
                        <a:spcBef>
                          <a:spcPts val="0"/>
                        </a:spcBef>
                        <a:spcAft>
                          <a:spcPts val="1000"/>
                        </a:spcAft>
                      </a:pPr>
                      <a:r>
                        <a:rPr lang="en-US" sz="1800" b="0" dirty="0">
                          <a:effectLst/>
                        </a:rPr>
                        <a:t>Spiritual or cultural tailoring of interventions:</a:t>
                      </a:r>
                    </a:p>
                    <a:p>
                      <a:pPr marL="0" marR="0">
                        <a:spcBef>
                          <a:spcPts val="0"/>
                        </a:spcBef>
                        <a:spcAft>
                          <a:spcPts val="1000"/>
                        </a:spcAft>
                      </a:pPr>
                      <a:r>
                        <a:rPr lang="en-US" sz="1800" b="0" dirty="0">
                          <a:effectLst/>
                        </a:rPr>
                        <a:t>Intro as evidence-based practices, cultural considerations</a:t>
                      </a:r>
                    </a:p>
                    <a:p>
                      <a:pPr marL="0" marR="0">
                        <a:spcBef>
                          <a:spcPts val="0"/>
                        </a:spcBef>
                        <a:spcAft>
                          <a:spcPts val="1000"/>
                        </a:spcAft>
                      </a:pPr>
                      <a:r>
                        <a:rPr lang="en-US" sz="1800" b="0" dirty="0">
                          <a:effectLst/>
                        </a:rPr>
                        <a:t>Religious and spiritual views on treatment practices; assuring ethical and effective practice in potential faith integration.</a:t>
                      </a:r>
                    </a:p>
                    <a:p>
                      <a:pPr marL="0" marR="0">
                        <a:spcBef>
                          <a:spcPts val="0"/>
                        </a:spcBef>
                        <a:spcAft>
                          <a:spcPts val="1000"/>
                        </a:spcAft>
                      </a:pPr>
                      <a:r>
                        <a:rPr lang="en-US" sz="1200" dirty="0">
                          <a:effectLst/>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lvl="0" indent="0">
                        <a:spcBef>
                          <a:spcPts val="0"/>
                        </a:spcBef>
                        <a:spcAft>
                          <a:spcPts val="0"/>
                        </a:spcAft>
                        <a:buFont typeface="Arial" panose="020B0604020202020204" pitchFamily="34" charset="0"/>
                        <a:buNone/>
                      </a:pPr>
                      <a:r>
                        <a:rPr lang="en-US" sz="1800" b="1" dirty="0">
                          <a:effectLst/>
                        </a:rPr>
                        <a:t>READINGS:</a:t>
                      </a:r>
                    </a:p>
                    <a:p>
                      <a:pPr marL="342900" marR="0" lvl="0" indent="-342900">
                        <a:spcBef>
                          <a:spcPts val="0"/>
                        </a:spcBef>
                        <a:spcAft>
                          <a:spcPts val="0"/>
                        </a:spcAft>
                        <a:buFont typeface="Arial" panose="020B0604020202020204" pitchFamily="34" charset="0"/>
                        <a:buChar char="●"/>
                      </a:pPr>
                      <a:endParaRPr lang="en-US" sz="1800" dirty="0">
                        <a:effectLst/>
                      </a:endParaRPr>
                    </a:p>
                    <a:p>
                      <a:pPr marL="342900" marR="0" lvl="0" indent="-342900">
                        <a:spcBef>
                          <a:spcPts val="0"/>
                        </a:spcBef>
                        <a:spcAft>
                          <a:spcPts val="0"/>
                        </a:spcAft>
                        <a:buFont typeface="Arial" panose="020B0604020202020204" pitchFamily="34" charset="0"/>
                        <a:buChar char="●"/>
                      </a:pPr>
                      <a:r>
                        <a:rPr lang="en-US" sz="1800" dirty="0">
                          <a:solidFill>
                            <a:schemeClr val="bg1"/>
                          </a:solidFill>
                          <a:effectLst/>
                        </a:rPr>
                        <a:t>Boyd-Franklin et. al. Ch. 3</a:t>
                      </a:r>
                    </a:p>
                    <a:p>
                      <a:pPr marL="342900" marR="0" lvl="0" indent="-342900">
                        <a:spcBef>
                          <a:spcPts val="0"/>
                        </a:spcBef>
                        <a:spcAft>
                          <a:spcPts val="0"/>
                        </a:spcAft>
                        <a:buFont typeface="Arial" panose="020B0604020202020204" pitchFamily="34" charset="0"/>
                        <a:buChar char="●"/>
                      </a:pPr>
                      <a:r>
                        <a:rPr lang="en-US" sz="1800" dirty="0" err="1">
                          <a:effectLst/>
                        </a:rPr>
                        <a:t>Oxhandler</a:t>
                      </a:r>
                      <a:r>
                        <a:rPr lang="en-US" sz="1800" dirty="0">
                          <a:effectLst/>
                        </a:rPr>
                        <a:t> (2020) in Scales &amp; Kelly – Ch. 11</a:t>
                      </a:r>
                    </a:p>
                    <a:p>
                      <a:pPr marL="342900" marR="0" lvl="0" indent="-342900">
                        <a:spcBef>
                          <a:spcPts val="0"/>
                        </a:spcBef>
                        <a:spcAft>
                          <a:spcPts val="0"/>
                        </a:spcAft>
                        <a:buFont typeface="Arial" panose="020B0604020202020204" pitchFamily="34" charset="0"/>
                        <a:buChar char="●"/>
                      </a:pPr>
                      <a:r>
                        <a:rPr lang="en-US" sz="1800" dirty="0">
                          <a:effectLst/>
                        </a:rPr>
                        <a:t>Parra et al. (2019)</a:t>
                      </a:r>
                    </a:p>
                    <a:p>
                      <a:pPr marL="342900" marR="0" lvl="0" indent="-342900">
                        <a:spcBef>
                          <a:spcPts val="0"/>
                        </a:spcBef>
                        <a:spcAft>
                          <a:spcPts val="0"/>
                        </a:spcAft>
                        <a:buFont typeface="Arial" panose="020B0604020202020204" pitchFamily="34" charset="0"/>
                        <a:buChar char="●"/>
                      </a:pPr>
                      <a:r>
                        <a:rPr lang="en-US" sz="1800" dirty="0">
                          <a:solidFill>
                            <a:schemeClr val="bg1"/>
                          </a:solidFill>
                          <a:effectLst/>
                        </a:rPr>
                        <a:t>Hernandez et al. (2019)</a:t>
                      </a:r>
                    </a:p>
                    <a:p>
                      <a:pPr marL="0" marR="0" lvl="0" indent="0">
                        <a:spcBef>
                          <a:spcPts val="0"/>
                        </a:spcBef>
                        <a:spcAft>
                          <a:spcPts val="0"/>
                        </a:spcAft>
                        <a:buFont typeface="Arial" panose="020B0604020202020204" pitchFamily="34" charset="0"/>
                        <a:buNone/>
                      </a:pPr>
                      <a:endParaRPr lang="en-US" sz="1800" dirty="0">
                        <a:solidFill>
                          <a:srgbClr val="FF0000"/>
                        </a:solidFill>
                        <a:effectLst/>
                        <a:latin typeface="Noto Sans Symbols"/>
                        <a:ea typeface="Noto Sans Symbols"/>
                        <a:cs typeface="Noto Sans Symbols"/>
                      </a:endParaRPr>
                    </a:p>
                  </a:txBody>
                  <a:tcPr marL="68580" marR="68580" marT="0" marB="0" anchor="ctr"/>
                </a:tc>
                <a:tc>
                  <a:txBody>
                    <a:bodyPr/>
                    <a:lstStyle/>
                    <a:p>
                      <a:pPr marL="0" marR="0">
                        <a:spcBef>
                          <a:spcPts val="0"/>
                        </a:spcBef>
                        <a:spcAft>
                          <a:spcPts val="1000"/>
                        </a:spcAft>
                      </a:pPr>
                      <a:r>
                        <a:rPr lang="en-US" sz="1800" b="1" dirty="0">
                          <a:effectLst/>
                        </a:rPr>
                        <a:t>ASSIGNMENTS:</a:t>
                      </a:r>
                    </a:p>
                    <a:p>
                      <a:pPr marL="0" marR="0">
                        <a:spcBef>
                          <a:spcPts val="0"/>
                        </a:spcBef>
                        <a:spcAft>
                          <a:spcPts val="1000"/>
                        </a:spcAft>
                      </a:pPr>
                      <a:endParaRPr lang="en-US" sz="1800" dirty="0">
                        <a:effectLst/>
                      </a:endParaRPr>
                    </a:p>
                    <a:p>
                      <a:pPr marL="0" marR="0">
                        <a:spcBef>
                          <a:spcPts val="0"/>
                        </a:spcBef>
                        <a:spcAft>
                          <a:spcPts val="1000"/>
                        </a:spcAft>
                      </a:pPr>
                      <a:r>
                        <a:rPr lang="en-US" sz="1800" dirty="0">
                          <a:effectLst/>
                        </a:rPr>
                        <a:t>Individual Article Presentations</a:t>
                      </a:r>
                    </a:p>
                    <a:p>
                      <a:pPr marL="0" marR="0">
                        <a:spcBef>
                          <a:spcPts val="0"/>
                        </a:spcBef>
                        <a:spcAft>
                          <a:spcPts val="1000"/>
                        </a:spcAft>
                      </a:pPr>
                      <a:r>
                        <a:rPr lang="en-US" sz="1200" dirty="0">
                          <a:effectLst/>
                        </a:rPr>
                        <a:t> </a:t>
                      </a:r>
                    </a:p>
                    <a:p>
                      <a:pPr marL="0" marR="0">
                        <a:spcBef>
                          <a:spcPts val="0"/>
                        </a:spcBef>
                        <a:spcAft>
                          <a:spcPts val="1000"/>
                        </a:spcAft>
                      </a:pPr>
                      <a:r>
                        <a:rPr lang="en-US" sz="1100" dirty="0">
                          <a:effectLst/>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27705395"/>
                  </a:ext>
                </a:extLst>
              </a:tr>
            </a:tbl>
          </a:graphicData>
        </a:graphic>
      </p:graphicFrame>
    </p:spTree>
    <p:extLst>
      <p:ext uri="{BB962C8B-B14F-4D97-AF65-F5344CB8AC3E}">
        <p14:creationId xmlns:p14="http://schemas.microsoft.com/office/powerpoint/2010/main" val="42927343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2148</TotalTime>
  <Words>2481</Words>
  <Application>Microsoft Office PowerPoint</Application>
  <PresentationFormat>Widescreen</PresentationFormat>
  <Paragraphs>228</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Noto Sans Symbols</vt:lpstr>
      <vt:lpstr>Times New Roman</vt:lpstr>
      <vt:lpstr>Celestial</vt:lpstr>
      <vt:lpstr>Ethical issues in evidence-based practice and the use of technology</vt:lpstr>
      <vt:lpstr>Class overview</vt:lpstr>
      <vt:lpstr>PowerPoint Presentation</vt:lpstr>
      <vt:lpstr>six-Step Process</vt:lpstr>
      <vt:lpstr>Ethics and values in evidenced-based practice</vt:lpstr>
      <vt:lpstr>Important Concepts – simple internet search</vt:lpstr>
      <vt:lpstr>PowerPoint Presentation</vt:lpstr>
      <vt:lpstr>Quote   </vt:lpstr>
      <vt:lpstr>Ethical issues in evidence-based practice</vt:lpstr>
      <vt:lpstr>Ethical and diversity considerations to consider with Evidence-based practice</vt:lpstr>
      <vt:lpstr>In-class Discussion Activity:</vt:lpstr>
      <vt:lpstr>Five Step e-t-h-i-c model of decision making  (E. Congress, 1999)</vt:lpstr>
      <vt:lpstr>PowerPoint Presentation</vt:lpstr>
      <vt:lpstr>What would you do?</vt:lpstr>
      <vt:lpstr>Another Quote</vt:lpstr>
      <vt:lpstr> Nasw code of ethics, updated 2021, serves six purposes</vt:lpstr>
      <vt:lpstr> Nasw code of ethics, updated 2021, serves six purposes (cont.)</vt:lpstr>
      <vt:lpstr>PowerPoint Presentation</vt:lpstr>
      <vt:lpstr>Nasw core values and ethical principles</vt:lpstr>
      <vt:lpstr>Nasw core values and ethical principles (CONT.)</vt:lpstr>
      <vt:lpstr>Nasw ethical standards</vt:lpstr>
      <vt:lpstr>Ethical Responsibilities to Clients</vt:lpstr>
      <vt:lpstr>Ethical responsibilities to colleagues</vt:lpstr>
      <vt:lpstr> Ethical responsibilities in practice settings</vt:lpstr>
      <vt:lpstr>Ethical responsibilities as professionals</vt:lpstr>
      <vt:lpstr>Ethical responsibilities to the social work profession</vt:lpstr>
      <vt:lpstr>Ethical responsibilities to the broader society</vt:lpstr>
      <vt:lpstr>Video – John Rawls and the Veil of ignorance</vt:lpstr>
      <vt:lpstr>Technology and social work practice</vt:lpstr>
      <vt:lpstr>NASW Standards for technology in social work practice (2017)</vt:lpstr>
      <vt:lpstr>Standards divided into four main sections</vt:lpstr>
      <vt:lpstr>PowerPoint Presentation</vt:lpstr>
      <vt:lpstr>Picot practice</vt:lpstr>
      <vt:lpstr>PICOT Application using case study</vt:lpstr>
      <vt:lpstr>PowerPoint Presentation</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issues in evidence-based practice</dc:title>
  <dc:creator>Setup</dc:creator>
  <cp:lastModifiedBy>Evelyn Castro-Guillen</cp:lastModifiedBy>
  <cp:revision>83</cp:revision>
  <cp:lastPrinted>2025-09-04T20:15:05Z</cp:lastPrinted>
  <dcterms:created xsi:type="dcterms:W3CDTF">2022-09-08T14:23:41Z</dcterms:created>
  <dcterms:modified xsi:type="dcterms:W3CDTF">2026-01-15T04:33:39Z</dcterms:modified>
</cp:coreProperties>
</file>